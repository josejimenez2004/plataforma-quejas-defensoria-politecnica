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notesSlides/notesSlide1.xml" ContentType="application/vnd.openxmlformats-officedocument.presentationml.notesSlide+xml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1pPr>
    <a:lvl2pPr marL="0" marR="0" indent="228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2pPr>
    <a:lvl3pPr marL="0" marR="0" indent="457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3pPr>
    <a:lvl4pPr marL="0" marR="0" indent="685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4pPr>
    <a:lvl5pPr marL="0" marR="0" indent="9144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5pPr>
    <a:lvl6pPr marL="0" marR="0" indent="11430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6pPr>
    <a:lvl7pPr marL="0" marR="0" indent="1371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7pPr>
    <a:lvl8pPr marL="0" marR="0" indent="1600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8pPr>
    <a:lvl9pPr marL="0" marR="0" indent="1828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8F44A2F1-9E1F-4B54-A3A2-5F16C0AD49E2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CCDC3">
              <a:alpha val="17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381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809E35">
              <a:alpha val="10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381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381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619E5C">
              <a:alpha val="15000"/>
            </a:srgbClr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4" name="Shape 4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Para las etapas de Análisis y Diseño se sigue este proceso.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La primera etapa se llama Toma de Requerimeintos, y consiste en realizar mesas de trabajo con las diferentes áreas, entrevistas con los usuarios, observación del proceso y estudio de los sistemas e infraestructura existentes.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De este proceso, se obtiene toda la información necesaria para el analisis del sistema: reportes, formatos, procesos, reglamentos, politicas, leyes, etc.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Esta información se verifica y clasifica para identificar al personal involucrado, los procesos, las reglas y políticas de operación, afectadas por la introducción del sistema.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Todo esto se realiza para construir una descripción y maquetas del sistema considerando todo lo necesario para que pueda acoplarse a los procesos de la SMA y soportar las políticas y reglas de operación adecuadamente, incluyendo posibles mejoras a la forma de operar. 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De esta etapa se obtiene una descripción completa que ofrece una vista sobre la operacion del sistema para cuando esté terminado.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En la etapa de verificación se presentan los resultados ante la SMA y usuarios para verificar que el sistema operará adecuadamente y asi retroalimentar el trabajo y realizar los cambios pertinentes. 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(click)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Al final toda esta especificacion se detalla y estructura para construir los planos del sistema a construir a fin de garantizar el cumplimiento de los requerimientos funcionales y no funcionales, los cuales oncluyen: Modelo del proeso y del negocio, Modelo de Casos de uso, Modelo de la Interaccion con el usuario, Modelo de la BD, Especificacion de la paltaforma y Modelo de calidad.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&amp; Subtitle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írculo"/>
          <p:cNvSpPr/>
          <p:nvPr/>
        </p:nvSpPr>
        <p:spPr>
          <a:xfrm>
            <a:off x="596900" y="1060450"/>
            <a:ext cx="1778000" cy="1778000"/>
          </a:xfrm>
          <a:prstGeom prst="ellipse">
            <a:avLst/>
          </a:prstGeom>
          <a:solidFill>
            <a:srgbClr val="9E14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cap="all" spc="32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pPr>
          </a:p>
        </p:txBody>
      </p:sp>
      <p:pic>
        <p:nvPicPr>
          <p:cNvPr id="15" name="CIT-white.png" descr="CIT-whit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7730" y="1407553"/>
            <a:ext cx="1336340" cy="1083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sp>
        <p:nvSpPr>
          <p:cNvPr id="16" name="Texto del título"/>
          <p:cNvSpPr txBox="1"/>
          <p:nvPr>
            <p:ph type="title"/>
          </p:nvPr>
        </p:nvSpPr>
        <p:spPr>
          <a:xfrm>
            <a:off x="673100" y="3835400"/>
            <a:ext cx="11658600" cy="3886200"/>
          </a:xfrm>
          <a:prstGeom prst="rect">
            <a:avLst/>
          </a:prstGeom>
        </p:spPr>
        <p:txBody>
          <a:bodyPr/>
          <a:lstStyle>
            <a:lvl1pPr>
              <a:defRPr spc="208" sz="10400">
                <a:solidFill>
                  <a:srgbClr val="FFFFFF"/>
                </a:solidFill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7" name="Nivel de texto 1…"/>
          <p:cNvSpPr txBox="1"/>
          <p:nvPr>
            <p:ph type="body" sz="quarter" idx="1"/>
          </p:nvPr>
        </p:nvSpPr>
        <p:spPr>
          <a:xfrm>
            <a:off x="673100" y="2070100"/>
            <a:ext cx="11658600" cy="1778000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215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228600" algn="ctr">
              <a:spcBef>
                <a:spcPts val="0"/>
              </a:spcBef>
              <a:buClrTx/>
              <a:buSzTx/>
              <a:buNone/>
              <a:defRPr cap="all" spc="215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457200" algn="ctr">
              <a:spcBef>
                <a:spcPts val="0"/>
              </a:spcBef>
              <a:buClrTx/>
              <a:buSzTx/>
              <a:buNone/>
              <a:defRPr cap="all" spc="215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685800" algn="ctr">
              <a:spcBef>
                <a:spcPts val="0"/>
              </a:spcBef>
              <a:buClrTx/>
              <a:buSzTx/>
              <a:buNone/>
              <a:defRPr cap="all" spc="215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914400" algn="ctr">
              <a:spcBef>
                <a:spcPts val="0"/>
              </a:spcBef>
              <a:buClrTx/>
              <a:buSzTx/>
              <a:buNone/>
              <a:defRPr cap="all" spc="215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25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6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8" name="Imagen"/>
          <p:cNvSpPr/>
          <p:nvPr>
            <p:ph type="pic" idx="21"/>
          </p:nvPr>
        </p:nvSpPr>
        <p:spPr>
          <a:xfrm>
            <a:off x="533400" y="3492500"/>
            <a:ext cx="11938000" cy="7762817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9" name="Texto del título"/>
          <p:cNvSpPr txBox="1"/>
          <p:nvPr>
            <p:ph type="title"/>
          </p:nvPr>
        </p:nvSpPr>
        <p:spPr>
          <a:xfrm>
            <a:off x="673100" y="1168400"/>
            <a:ext cx="11658600" cy="1333500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pc="148" sz="7400">
                <a:solidFill>
                  <a:srgbClr val="FFFFFF"/>
                </a:solidFill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30" name="Nivel de texto 1…"/>
          <p:cNvSpPr txBox="1"/>
          <p:nvPr>
            <p:ph type="body" sz="quarter" idx="1"/>
          </p:nvPr>
        </p:nvSpPr>
        <p:spPr>
          <a:xfrm>
            <a:off x="673100" y="508000"/>
            <a:ext cx="11658600" cy="6731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228600" algn="ctr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457200" algn="ctr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685800" algn="ctr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914400" algn="ctr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n"/>
          <p:cNvSpPr/>
          <p:nvPr>
            <p:ph type="pic" idx="21"/>
          </p:nvPr>
        </p:nvSpPr>
        <p:spPr>
          <a:xfrm>
            <a:off x="876300" y="2304347"/>
            <a:ext cx="11239500" cy="7308610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0" name="Nivel de texto 1…"/>
          <p:cNvSpPr txBox="1"/>
          <p:nvPr>
            <p:ph type="body" sz="quarter" idx="1"/>
          </p:nvPr>
        </p:nvSpPr>
        <p:spPr>
          <a:xfrm>
            <a:off x="673100" y="1320800"/>
            <a:ext cx="11658600" cy="4953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22860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45720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68580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91440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/>
          <p:nvPr>
            <p:ph type="title"/>
          </p:nvPr>
        </p:nvSpPr>
        <p:spPr>
          <a:xfrm>
            <a:off x="673100" y="3086100"/>
            <a:ext cx="11658600" cy="3568700"/>
          </a:xfrm>
          <a:prstGeom prst="rect">
            <a:avLst/>
          </a:prstGeom>
        </p:spPr>
        <p:txBody>
          <a:bodyPr anchor="ctr"/>
          <a:lstStyle>
            <a:lvl1pPr>
              <a:defRPr spc="208" sz="10400">
                <a:solidFill>
                  <a:srgbClr val="FFFFFF"/>
                </a:solidFill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4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/>
          <p:nvPr>
            <p:ph type="title"/>
          </p:nvPr>
        </p:nvSpPr>
        <p:spPr>
          <a:xfrm>
            <a:off x="673100" y="3086100"/>
            <a:ext cx="11658600" cy="3568700"/>
          </a:xfrm>
          <a:prstGeom prst="rect">
            <a:avLst/>
          </a:prstGeom>
        </p:spPr>
        <p:txBody>
          <a:bodyPr anchor="ctr"/>
          <a:lstStyle>
            <a:lvl1pPr>
              <a:defRPr spc="208" sz="10400"/>
            </a:lvl1pPr>
          </a:lstStyle>
          <a:p>
            <a:pPr/>
            <a:r>
              <a:t>Texto del título</a:t>
            </a:r>
          </a:p>
        </p:txBody>
      </p:sp>
      <p:sp>
        <p:nvSpPr>
          <p:cNvPr id="5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Imagen"/>
          <p:cNvSpPr/>
          <p:nvPr>
            <p:ph type="pic" idx="21"/>
          </p:nvPr>
        </p:nvSpPr>
        <p:spPr>
          <a:xfrm>
            <a:off x="3630632" y="977900"/>
            <a:ext cx="10604501" cy="7881475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5" name="Texto del título"/>
          <p:cNvSpPr txBox="1"/>
          <p:nvPr>
            <p:ph type="title"/>
          </p:nvPr>
        </p:nvSpPr>
        <p:spPr>
          <a:xfrm>
            <a:off x="673100" y="4191000"/>
            <a:ext cx="4889500" cy="3581400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defRPr spc="148" sz="7400"/>
            </a:lvl1pPr>
          </a:lstStyle>
          <a:p>
            <a:pPr/>
            <a:r>
              <a:t>Texto del título</a:t>
            </a:r>
          </a:p>
        </p:txBody>
      </p:sp>
      <p:sp>
        <p:nvSpPr>
          <p:cNvPr id="66" name="Nivel de texto 1…"/>
          <p:cNvSpPr txBox="1"/>
          <p:nvPr>
            <p:ph type="body" sz="quarter" idx="1"/>
          </p:nvPr>
        </p:nvSpPr>
        <p:spPr>
          <a:xfrm>
            <a:off x="673100" y="2844800"/>
            <a:ext cx="4889500" cy="13589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228600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457200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685800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914400">
              <a:spcBef>
                <a:spcPts val="0"/>
              </a:spcBef>
              <a:buClrTx/>
              <a:buSzTx/>
              <a:buNone/>
              <a:defRPr cap="all" spc="79" sz="40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onec quis nunc"/>
          <p:cNvSpPr txBox="1"/>
          <p:nvPr>
            <p:ph type="body" sz="quarter" idx="21"/>
          </p:nvPr>
        </p:nvSpPr>
        <p:spPr>
          <a:xfrm>
            <a:off x="673100" y="1320800"/>
            <a:ext cx="11658600" cy="5362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pPr/>
            <a:r>
              <a:t>donec quis nunc</a:t>
            </a:r>
          </a:p>
        </p:txBody>
      </p:sp>
      <p:sp>
        <p:nvSpPr>
          <p:cNvPr id="7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7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donec quis nunc"/>
          <p:cNvSpPr txBox="1"/>
          <p:nvPr>
            <p:ph type="body" sz="quarter" idx="21"/>
          </p:nvPr>
        </p:nvSpPr>
        <p:spPr>
          <a:xfrm>
            <a:off x="673100" y="1320800"/>
            <a:ext cx="11658600" cy="5362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pPr/>
            <a:r>
              <a:t>donec quis nunc</a:t>
            </a:r>
          </a:p>
        </p:txBody>
      </p:sp>
      <p:sp>
        <p:nvSpPr>
          <p:cNvPr id="84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85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97979"/>
                </a:solidFill>
              </a:defRPr>
            </a:lvl1pPr>
            <a:lvl2pPr>
              <a:defRPr>
                <a:solidFill>
                  <a:srgbClr val="797979"/>
                </a:solidFill>
              </a:defRPr>
            </a:lvl2pPr>
            <a:lvl3pPr>
              <a:defRPr>
                <a:solidFill>
                  <a:srgbClr val="797979"/>
                </a:solidFill>
              </a:defRPr>
            </a:lvl3pPr>
            <a:lvl4pPr>
              <a:defRPr>
                <a:solidFill>
                  <a:srgbClr val="797979"/>
                </a:solidFill>
              </a:defRPr>
            </a:lvl4pPr>
            <a:lvl5pPr>
              <a:defRPr>
                <a:solidFill>
                  <a:srgbClr val="797979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6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n"/>
          <p:cNvSpPr/>
          <p:nvPr>
            <p:ph type="pic" idx="21"/>
          </p:nvPr>
        </p:nvSpPr>
        <p:spPr>
          <a:xfrm>
            <a:off x="4701080" y="2297102"/>
            <a:ext cx="8877139" cy="6597667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4" name="donec quis nunc"/>
          <p:cNvSpPr txBox="1"/>
          <p:nvPr>
            <p:ph type="body" sz="quarter" idx="22"/>
          </p:nvPr>
        </p:nvSpPr>
        <p:spPr>
          <a:xfrm>
            <a:off x="673100" y="1320800"/>
            <a:ext cx="11658600" cy="5362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234" sz="2600">
                <a:solidFill>
                  <a:srgbClr val="797979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pPr/>
            <a:r>
              <a:t>donec quis nunc</a:t>
            </a:r>
          </a:p>
        </p:txBody>
      </p:sp>
      <p:sp>
        <p:nvSpPr>
          <p:cNvPr id="9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96" name="Nivel de texto 1…"/>
          <p:cNvSpPr txBox="1"/>
          <p:nvPr>
            <p:ph type="body" sz="half" idx="1"/>
          </p:nvPr>
        </p:nvSpPr>
        <p:spPr>
          <a:xfrm>
            <a:off x="673100" y="2603500"/>
            <a:ext cx="4775200" cy="6019800"/>
          </a:xfrm>
          <a:prstGeom prst="rect">
            <a:avLst/>
          </a:prstGeom>
        </p:spPr>
        <p:txBody>
          <a:bodyPr/>
          <a:lstStyle>
            <a:lvl1pPr>
              <a:spcBef>
                <a:spcPts val="2800"/>
              </a:spcBef>
              <a:defRPr spc="48" sz="2400">
                <a:solidFill>
                  <a:srgbClr val="797979"/>
                </a:solidFill>
              </a:defRPr>
            </a:lvl1pPr>
            <a:lvl2pPr>
              <a:spcBef>
                <a:spcPts val="2800"/>
              </a:spcBef>
              <a:defRPr spc="48" sz="2400">
                <a:solidFill>
                  <a:srgbClr val="797979"/>
                </a:solidFill>
              </a:defRPr>
            </a:lvl2pPr>
            <a:lvl3pPr>
              <a:spcBef>
                <a:spcPts val="2800"/>
              </a:spcBef>
              <a:defRPr spc="48" sz="2400">
                <a:solidFill>
                  <a:srgbClr val="797979"/>
                </a:solidFill>
              </a:defRPr>
            </a:lvl3pPr>
            <a:lvl4pPr>
              <a:spcBef>
                <a:spcPts val="2800"/>
              </a:spcBef>
              <a:defRPr spc="48" sz="2400">
                <a:solidFill>
                  <a:srgbClr val="797979"/>
                </a:solidFill>
              </a:defRPr>
            </a:lvl4pPr>
            <a:lvl5pPr>
              <a:spcBef>
                <a:spcPts val="2800"/>
              </a:spcBef>
              <a:defRPr spc="48" sz="2400">
                <a:solidFill>
                  <a:srgbClr val="797979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7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ivel de texto 1…"/>
          <p:cNvSpPr txBox="1"/>
          <p:nvPr>
            <p:ph type="body" idx="1"/>
          </p:nvPr>
        </p:nvSpPr>
        <p:spPr>
          <a:xfrm>
            <a:off x="673100" y="1320800"/>
            <a:ext cx="11658600" cy="7467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797979"/>
                </a:solidFill>
              </a:defRPr>
            </a:lvl1pPr>
            <a:lvl2pPr>
              <a:defRPr>
                <a:solidFill>
                  <a:srgbClr val="797979"/>
                </a:solidFill>
              </a:defRPr>
            </a:lvl2pPr>
            <a:lvl3pPr>
              <a:defRPr>
                <a:solidFill>
                  <a:srgbClr val="797979"/>
                </a:solidFill>
              </a:defRPr>
            </a:lvl3pPr>
            <a:lvl4pPr>
              <a:defRPr>
                <a:solidFill>
                  <a:srgbClr val="797979"/>
                </a:solidFill>
              </a:defRPr>
            </a:lvl4pPr>
            <a:lvl5pPr>
              <a:defRPr>
                <a:solidFill>
                  <a:srgbClr val="797979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5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n"/>
          <p:cNvSpPr/>
          <p:nvPr>
            <p:ph type="pic" sz="half" idx="21"/>
          </p:nvPr>
        </p:nvSpPr>
        <p:spPr>
          <a:xfrm>
            <a:off x="6172200" y="4787900"/>
            <a:ext cx="6375400" cy="4145675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Imagen"/>
          <p:cNvSpPr/>
          <p:nvPr>
            <p:ph type="pic" sz="quarter" idx="22"/>
          </p:nvPr>
        </p:nvSpPr>
        <p:spPr>
          <a:xfrm>
            <a:off x="6333919" y="1079498"/>
            <a:ext cx="5918201" cy="3429001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Imagen"/>
          <p:cNvSpPr/>
          <p:nvPr>
            <p:ph type="pic" idx="23"/>
          </p:nvPr>
        </p:nvSpPr>
        <p:spPr>
          <a:xfrm>
            <a:off x="-321934" y="1080867"/>
            <a:ext cx="7686496" cy="7807542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5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2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Imagen"/>
          <p:cNvSpPr/>
          <p:nvPr>
            <p:ph type="pic" idx="21"/>
          </p:nvPr>
        </p:nvSpPr>
        <p:spPr>
          <a:xfrm>
            <a:off x="5556601" y="1079500"/>
            <a:ext cx="7701342" cy="7785100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3" name="Imagen"/>
          <p:cNvSpPr/>
          <p:nvPr>
            <p:ph type="pic" idx="22"/>
          </p:nvPr>
        </p:nvSpPr>
        <p:spPr>
          <a:xfrm>
            <a:off x="299347" y="1003300"/>
            <a:ext cx="7793714" cy="7899400"/>
          </a:xfrm>
          <a:prstGeom prst="rect">
            <a:avLst/>
          </a:prstGeom>
          <a:effectLst>
            <a:outerShdw sx="100000" sy="100000" kx="0" ky="0" algn="b" rotWithShape="0" blurRad="190500" dist="8455" dir="5400000">
              <a:srgbClr val="000000"/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4" name="Número de diapositiva"/>
          <p:cNvSpPr txBox="1"/>
          <p:nvPr>
            <p:ph type="sldNum" sz="quarter" idx="2"/>
          </p:nvPr>
        </p:nvSpPr>
        <p:spPr>
          <a:xfrm>
            <a:off x="6335522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— Johnny Appleseed"/>
          <p:cNvSpPr txBox="1"/>
          <p:nvPr>
            <p:ph type="body" sz="quarter" idx="21"/>
          </p:nvPr>
        </p:nvSpPr>
        <p:spPr>
          <a:xfrm>
            <a:off x="673100" y="6483350"/>
            <a:ext cx="11658600" cy="5588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i="1" spc="52" sz="2600">
                <a:solidFill>
                  <a:srgbClr val="941100"/>
                </a:solidFill>
              </a:defRPr>
            </a:lvl1pPr>
          </a:lstStyle>
          <a:p>
            <a:pPr/>
            <a:r>
              <a:t>— Johnny Appleseed</a:t>
            </a:r>
          </a:p>
        </p:txBody>
      </p:sp>
      <p:sp>
        <p:nvSpPr>
          <p:cNvPr id="132" name="Type a quote here."/>
          <p:cNvSpPr txBox="1"/>
          <p:nvPr>
            <p:ph type="body" sz="quarter" idx="22"/>
          </p:nvPr>
        </p:nvSpPr>
        <p:spPr>
          <a:xfrm>
            <a:off x="673100" y="5317839"/>
            <a:ext cx="11658600" cy="105756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464" sz="5800">
                <a:solidFill>
                  <a:srgbClr val="04245B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pPr defTabSz="914400"/>
            <a:r>
              <a:t>Type a quote here.</a:t>
            </a:r>
          </a:p>
        </p:txBody>
      </p:sp>
      <p:sp>
        <p:nvSpPr>
          <p:cNvPr id="133" name="”"/>
          <p:cNvSpPr txBox="1"/>
          <p:nvPr>
            <p:ph type="body" sz="quarter" idx="23"/>
          </p:nvPr>
        </p:nvSpPr>
        <p:spPr>
          <a:xfrm>
            <a:off x="6113659" y="7061200"/>
            <a:ext cx="779541" cy="14097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647700">
              <a:spcBef>
                <a:spcPts val="0"/>
              </a:spcBef>
              <a:buClrTx/>
              <a:buSzTx/>
              <a:buNone/>
              <a:defRPr spc="180" sz="900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34" name="“"/>
          <p:cNvSpPr txBox="1"/>
          <p:nvPr>
            <p:ph type="body" sz="quarter" idx="24"/>
          </p:nvPr>
        </p:nvSpPr>
        <p:spPr>
          <a:xfrm>
            <a:off x="6113659" y="2565400"/>
            <a:ext cx="779541" cy="14097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647700">
              <a:spcBef>
                <a:spcPts val="0"/>
              </a:spcBef>
              <a:buClrTx/>
              <a:buSzTx/>
              <a:buNone/>
              <a:defRPr spc="180" sz="900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35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Imagen"/>
          <p:cNvSpPr/>
          <p:nvPr>
            <p:ph type="pic" idx="21"/>
          </p:nvPr>
        </p:nvSpPr>
        <p:spPr>
          <a:xfrm>
            <a:off x="0" y="0"/>
            <a:ext cx="15312005" cy="995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Número de diapositiva"/>
          <p:cNvSpPr txBox="1"/>
          <p:nvPr>
            <p:ph type="sldNum" sz="quarter" idx="2"/>
          </p:nvPr>
        </p:nvSpPr>
        <p:spPr>
          <a:xfrm>
            <a:off x="6338817" y="9232900"/>
            <a:ext cx="327168" cy="3376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ángulo"/>
          <p:cNvSpPr/>
          <p:nvPr/>
        </p:nvSpPr>
        <p:spPr>
          <a:xfrm>
            <a:off x="2263245" y="-914532"/>
            <a:ext cx="10750221" cy="1854730"/>
          </a:xfrm>
          <a:prstGeom prst="rect">
            <a:avLst/>
          </a:prstGeom>
          <a:solidFill>
            <a:schemeClr val="accent5">
              <a:alpha val="51066"/>
            </a:schemeClr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65" name="Rectángulo"/>
          <p:cNvSpPr/>
          <p:nvPr/>
        </p:nvSpPr>
        <p:spPr>
          <a:xfrm>
            <a:off x="-1663171" y="3598333"/>
            <a:ext cx="2574992" cy="6168431"/>
          </a:xfrm>
          <a:prstGeom prst="rect">
            <a:avLst/>
          </a:prstGeom>
          <a:solidFill>
            <a:schemeClr val="accent1">
              <a:alpha val="50487"/>
            </a:schemeClr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166" name="ipn chico.png" descr="ipn chico.png"/>
          <p:cNvPicPr>
            <a:picLocks noChangeAspect="1"/>
          </p:cNvPicPr>
          <p:nvPr/>
        </p:nvPicPr>
        <p:blipFill>
          <a:blip r:embed="rId2">
            <a:alphaModFix amt="49904"/>
            <a:extLst/>
          </a:blip>
          <a:stretch>
            <a:fillRect/>
          </a:stretch>
        </p:blipFill>
        <p:spPr>
          <a:xfrm>
            <a:off x="-174692" y="14618"/>
            <a:ext cx="1449238" cy="1556778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o del título"/>
          <p:cNvSpPr txBox="1"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 anchor="ctr"/>
          <a:lstStyle>
            <a:lvl1pPr defTabSz="584200">
              <a:defRPr cap="none" spc="0" sz="8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68" name="Nivel de texto 1…"/>
          <p:cNvSpPr txBox="1"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</p:spPr>
        <p:txBody>
          <a:bodyPr anchor="ctr"/>
          <a:lstStyle>
            <a:lvl1pPr marL="444500" indent="-444500" defTabSz="584200">
              <a:spcBef>
                <a:spcPts val="4200"/>
              </a:spcBef>
              <a:buClrTx/>
              <a:defRPr spc="0"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889000" indent="-444500" defTabSz="584200">
              <a:spcBef>
                <a:spcPts val="4200"/>
              </a:spcBef>
              <a:buClrTx/>
              <a:defRPr spc="0"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333500" indent="-444500" defTabSz="584200">
              <a:spcBef>
                <a:spcPts val="4200"/>
              </a:spcBef>
              <a:buClrTx/>
              <a:defRPr spc="0"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778000" indent="-444500" defTabSz="584200">
              <a:spcBef>
                <a:spcPts val="4200"/>
              </a:spcBef>
              <a:buClrTx/>
              <a:defRPr spc="0"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222500" indent="-444500" defTabSz="584200">
              <a:spcBef>
                <a:spcPts val="4200"/>
              </a:spcBef>
              <a:buClrTx/>
              <a:defRPr spc="0"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9" name="Número de diapositiva"/>
          <p:cNvSpPr txBox="1"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 defTabSz="584200">
              <a:defRPr cap="none" spc="0" sz="18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ángulo"/>
          <p:cNvSpPr/>
          <p:nvPr/>
        </p:nvSpPr>
        <p:spPr>
          <a:xfrm>
            <a:off x="2263245" y="-914532"/>
            <a:ext cx="10750221" cy="1854730"/>
          </a:xfrm>
          <a:prstGeom prst="rect">
            <a:avLst/>
          </a:prstGeom>
          <a:solidFill>
            <a:schemeClr val="accent5">
              <a:alpha val="51066"/>
            </a:schemeClr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77" name="Rectángulo"/>
          <p:cNvSpPr/>
          <p:nvPr/>
        </p:nvSpPr>
        <p:spPr>
          <a:xfrm>
            <a:off x="-1663171" y="3598333"/>
            <a:ext cx="2574992" cy="6168431"/>
          </a:xfrm>
          <a:prstGeom prst="rect">
            <a:avLst/>
          </a:prstGeom>
          <a:solidFill>
            <a:schemeClr val="accent1">
              <a:alpha val="50487"/>
            </a:schemeClr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178" name="ipn chico.png" descr="ipn chico.png"/>
          <p:cNvPicPr>
            <a:picLocks noChangeAspect="1"/>
          </p:cNvPicPr>
          <p:nvPr/>
        </p:nvPicPr>
        <p:blipFill>
          <a:blip r:embed="rId2">
            <a:alphaModFix amt="49904"/>
            <a:extLst/>
          </a:blip>
          <a:stretch>
            <a:fillRect/>
          </a:stretch>
        </p:blipFill>
        <p:spPr>
          <a:xfrm>
            <a:off x="-174692" y="14618"/>
            <a:ext cx="1449238" cy="1556778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Texto del título"/>
          <p:cNvSpPr txBox="1"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 anchor="ctr"/>
          <a:lstStyle>
            <a:lvl1pPr defTabSz="584200">
              <a:defRPr cap="none" spc="0" sz="8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80" name="Número de diapositiva"/>
          <p:cNvSpPr txBox="1"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 defTabSz="584200">
              <a:defRPr cap="none" spc="0" sz="18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3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5" name="Texto del título"/>
          <p:cNvSpPr txBox="1"/>
          <p:nvPr>
            <p:ph type="title"/>
          </p:nvPr>
        </p:nvSpPr>
        <p:spPr>
          <a:xfrm>
            <a:off x="673100" y="584200"/>
            <a:ext cx="116586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6" name="Nivel de texto 1…"/>
          <p:cNvSpPr txBox="1"/>
          <p:nvPr>
            <p:ph type="body" idx="1"/>
          </p:nvPr>
        </p:nvSpPr>
        <p:spPr>
          <a:xfrm>
            <a:off x="673100" y="2387600"/>
            <a:ext cx="11658600" cy="645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" name="Número de diapositiva"/>
          <p:cNvSpPr txBox="1"/>
          <p:nvPr>
            <p:ph type="sldNum" sz="quarter" idx="2"/>
          </p:nvPr>
        </p:nvSpPr>
        <p:spPr>
          <a:xfrm>
            <a:off x="6338817" y="9231630"/>
            <a:ext cx="327168" cy="3376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cap="all" spc="28" sz="1400">
                <a:solidFill>
                  <a:srgbClr val="9A958E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79" strike="noStrike" sz="4000" u="none">
          <a:solidFill>
            <a:srgbClr val="04245B"/>
          </a:solidFill>
          <a:uFillTx/>
          <a:latin typeface="+mn-lt"/>
          <a:ea typeface="+mn-ea"/>
          <a:cs typeface="+mn-cs"/>
          <a:sym typeface="Futura"/>
        </a:defRPr>
      </a:lvl9pPr>
    </p:titleStyle>
    <p:bodyStyle>
      <a:lvl1pPr marL="381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1pPr>
      <a:lvl2pPr marL="762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2pPr>
      <a:lvl3pPr marL="1143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3pPr>
      <a:lvl4pPr marL="1524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4pPr>
      <a:lvl5pPr marL="1905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5pPr>
      <a:lvl6pPr marL="2286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6pPr>
      <a:lvl7pPr marL="2667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7pPr>
      <a:lvl8pPr marL="3048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8pPr>
      <a:lvl9pPr marL="3429000" marR="0" indent="-381000" algn="l" defTabSz="457200" latinLnBrk="0">
        <a:lnSpc>
          <a:spcPct val="100000"/>
        </a:lnSpc>
        <a:spcBef>
          <a:spcPts val="34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56" strike="noStrike" sz="2800" u="none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28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6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7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Relationship Id="rId26" Type="http://schemas.openxmlformats.org/officeDocument/2006/relationships/image" Target="../media/image56.png"/><Relationship Id="rId27" Type="http://schemas.openxmlformats.org/officeDocument/2006/relationships/image" Target="../media/image57.png"/><Relationship Id="rId28" Type="http://schemas.openxmlformats.org/officeDocument/2006/relationships/image" Target="../media/image58.png"/><Relationship Id="rId29" Type="http://schemas.openxmlformats.org/officeDocument/2006/relationships/image" Target="../media/image5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5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42.png"/><Relationship Id="rId19" Type="http://schemas.openxmlformats.org/officeDocument/2006/relationships/image" Target="../media/image39.png"/><Relationship Id="rId20" Type="http://schemas.openxmlformats.org/officeDocument/2006/relationships/image" Target="../media/image68.png"/><Relationship Id="rId21" Type="http://schemas.openxmlformats.org/officeDocument/2006/relationships/image" Target="../media/image36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47.png"/><Relationship Id="rId27" Type="http://schemas.openxmlformats.org/officeDocument/2006/relationships/image" Target="../media/image38.png"/><Relationship Id="rId28" Type="http://schemas.openxmlformats.org/officeDocument/2006/relationships/image" Target="../media/image8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KickOff del…"/>
          <p:cNvSpPr txBox="1"/>
          <p:nvPr>
            <p:ph type="ctrTitle"/>
          </p:nvPr>
        </p:nvSpPr>
        <p:spPr>
          <a:xfrm>
            <a:off x="1683167" y="3835400"/>
            <a:ext cx="10648533" cy="2846010"/>
          </a:xfrm>
          <a:prstGeom prst="rect">
            <a:avLst/>
          </a:prstGeom>
        </p:spPr>
        <p:txBody>
          <a:bodyPr/>
          <a:lstStyle/>
          <a:p>
            <a:pPr defTabSz="361188">
              <a:defRPr spc="164" sz="8216"/>
            </a:pPr>
            <a:r>
              <a:t>KickOff del</a:t>
            </a:r>
          </a:p>
          <a:p>
            <a:pPr defTabSz="361188">
              <a:defRPr spc="164" sz="8216"/>
            </a:pPr>
            <a:r>
              <a:t>proyecto</a:t>
            </a:r>
          </a:p>
        </p:txBody>
      </p:sp>
      <p:sp>
        <p:nvSpPr>
          <p:cNvPr id="190" name="Government Resource…"/>
          <p:cNvSpPr txBox="1"/>
          <p:nvPr>
            <p:ph type="subTitle" sz="half" idx="1"/>
          </p:nvPr>
        </p:nvSpPr>
        <p:spPr>
          <a:xfrm>
            <a:off x="820546" y="580888"/>
            <a:ext cx="11658601" cy="2264898"/>
          </a:xfrm>
          <a:prstGeom prst="rect">
            <a:avLst/>
          </a:prstGeom>
        </p:spPr>
        <p:txBody>
          <a:bodyPr/>
          <a:lstStyle/>
          <a:p>
            <a:pPr defTabSz="370331">
              <a:defRPr spc="174" sz="4374"/>
            </a:pPr>
            <a:r>
              <a:t>Government Resource </a:t>
            </a:r>
          </a:p>
          <a:p>
            <a:pPr defTabSz="370331">
              <a:defRPr spc="174" sz="4374"/>
            </a:pPr>
            <a:r>
              <a:t>Planning</a:t>
            </a:r>
          </a:p>
          <a:p>
            <a:pPr defTabSz="370331">
              <a:defRPr spc="174" sz="4374"/>
            </a:pPr>
            <a:r>
              <a:t>ETAPA 1</a:t>
            </a:r>
          </a:p>
        </p:txBody>
      </p:sp>
      <p:pic>
        <p:nvPicPr>
          <p:cNvPr id="191" name="mc-r.png" descr="mc-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4918" y="8360977"/>
            <a:ext cx="2463700" cy="98415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  <p:pic>
        <p:nvPicPr>
          <p:cNvPr id="192" name="escom blanco.png" descr="escom blanc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33733" y="8311155"/>
            <a:ext cx="1083794" cy="1083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  <p:pic>
        <p:nvPicPr>
          <p:cNvPr id="193" name="ipn blanco.png" descr="ipn blanc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8036" y="8217947"/>
            <a:ext cx="1185465" cy="127021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ontenid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Contenido</a:t>
            </a:r>
          </a:p>
        </p:txBody>
      </p:sp>
      <p:sp>
        <p:nvSpPr>
          <p:cNvPr id="196" name="Presentació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28600" indent="-228600">
              <a:buSzPct val="100000"/>
              <a:buAutoNum type="arabicPeriod" startAt="1"/>
            </a:pPr>
            <a:r>
              <a:t>Presentación.</a:t>
            </a:r>
          </a:p>
          <a:p>
            <a:pPr marL="228600" indent="-228600">
              <a:buSzPct val="100000"/>
              <a:buAutoNum type="arabicPeriod" startAt="1"/>
            </a:pPr>
            <a:r>
              <a:t>Objetivo.</a:t>
            </a:r>
          </a:p>
          <a:p>
            <a:pPr marL="228600" indent="-228600">
              <a:buSzPct val="100000"/>
              <a:buAutoNum type="arabicPeriod" startAt="1"/>
            </a:pPr>
            <a:r>
              <a:t>Estrategia de desarrollo.</a:t>
            </a:r>
          </a:p>
          <a:p>
            <a:pPr marL="228600" indent="-228600">
              <a:buSzPct val="100000"/>
              <a:buAutoNum type="arabicPeriod" startAt="1"/>
            </a:pPr>
            <a:r>
              <a:t>Alcance propuesto.</a:t>
            </a:r>
          </a:p>
          <a:p>
            <a:pPr marL="228600" indent="-228600">
              <a:buSzPct val="100000"/>
              <a:buAutoNum type="arabicPeriod" startAt="1"/>
            </a:pPr>
            <a:r>
              <a:t>Entregables. </a:t>
            </a:r>
          </a:p>
          <a:p>
            <a:pPr marL="228600" indent="-228600">
              <a:buSzPct val="100000"/>
              <a:buAutoNum type="arabicPeriod" startAt="1"/>
            </a:pPr>
            <a:r>
              <a:t>Firma del convenio.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49443104_808177262853462_5756740030355295667_n.jpg" descr="49443104_808177262853462_5756740030355295667_n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25851" r="0" b="25851"/>
          <a:stretch>
            <a:fillRect/>
          </a:stretch>
        </p:blipFill>
        <p:spPr>
          <a:xfrm>
            <a:off x="533400" y="3479800"/>
            <a:ext cx="11938000" cy="5765800"/>
          </a:xfrm>
          <a:prstGeom prst="rect">
            <a:avLst/>
          </a:prstGeom>
        </p:spPr>
      </p:pic>
      <p:sp>
        <p:nvSpPr>
          <p:cNvPr id="199" name="Bienveni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Bienvenida</a:t>
            </a:r>
          </a:p>
        </p:txBody>
      </p:sp>
      <p:grpSp>
        <p:nvGrpSpPr>
          <p:cNvPr id="202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200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01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04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05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07" name="Directiv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Directivos</a:t>
            </a:r>
          </a:p>
        </p:txBody>
      </p:sp>
      <p:sp>
        <p:nvSpPr>
          <p:cNvPr id="208" name="Por parte de la Alcaldía…"/>
          <p:cNvSpPr txBox="1"/>
          <p:nvPr>
            <p:ph type="body" sz="half" idx="1"/>
          </p:nvPr>
        </p:nvSpPr>
        <p:spPr>
          <a:xfrm>
            <a:off x="746823" y="1814025"/>
            <a:ext cx="4775201" cy="7115169"/>
          </a:xfrm>
          <a:prstGeom prst="rect">
            <a:avLst/>
          </a:prstGeom>
        </p:spPr>
        <p:txBody>
          <a:bodyPr/>
          <a:lstStyle/>
          <a:p>
            <a:pPr/>
            <a:r>
              <a:t>Por parte de la Alcaldía</a:t>
            </a:r>
          </a:p>
          <a:p>
            <a:pPr lvl="1"/>
            <a:r>
              <a:t>LIC. PATRICIA JIMENA ORTIZ COUTURIER</a:t>
            </a:r>
          </a:p>
          <a:p>
            <a:pPr lvl="1"/>
            <a:r>
              <a:t>LIC. MARINO BULMARO RAMÍREZ CARMONA</a:t>
            </a:r>
          </a:p>
          <a:p>
            <a:pPr lvl="1" marL="0" indent="228600">
              <a:buClrTx/>
              <a:buSzTx/>
              <a:buNone/>
            </a:pPr>
          </a:p>
          <a:p>
            <a:pPr lvl="1" marL="0" indent="228600">
              <a:buClrTx/>
              <a:buSzTx/>
              <a:buNone/>
            </a:pPr>
          </a:p>
          <a:p>
            <a:pPr/>
            <a:r>
              <a:t>Responsable técnico:</a:t>
            </a:r>
          </a:p>
          <a:p>
            <a:pPr lvl="1"/>
            <a:r>
              <a:t>ING. JULIO ADRIAN PEREZ GALLARDO</a:t>
            </a:r>
          </a:p>
        </p:txBody>
      </p:sp>
      <p:sp>
        <p:nvSpPr>
          <p:cNvPr id="209" name="Por parte del IPN…"/>
          <p:cNvSpPr txBox="1"/>
          <p:nvPr/>
        </p:nvSpPr>
        <p:spPr>
          <a:xfrm>
            <a:off x="6860159" y="1814025"/>
            <a:ext cx="4775201" cy="7115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Por parte del IPN</a:t>
            </a:r>
          </a:p>
          <a:p>
            <a:pPr lvl="1" marL="762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LIC. ANDRÉS ORTIGOZA CAMPOS </a:t>
            </a:r>
          </a:p>
          <a:p>
            <a:pPr lvl="1" marL="762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M. EN C. JOSÉ ASUNCIÓN ENRIQUEZ ZÁRATE</a:t>
            </a:r>
          </a:p>
          <a:p>
            <a:pPr lvl="1" marL="762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ING. PATRICIA ESCAMILLA MIRANDA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Responsable técnico:</a:t>
            </a:r>
          </a:p>
          <a:p>
            <a:pPr lvl="1" marL="762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M. EN C. LUIS ENRIQUE HERNÁNDEZ OLVERA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address-adult-african-1061576.jpg" descr="address-adult-african-1061576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555" r="0" b="37178"/>
          <a:stretch>
            <a:fillRect/>
          </a:stretch>
        </p:blipFill>
        <p:spPr>
          <a:xfrm>
            <a:off x="533400" y="3479800"/>
            <a:ext cx="11938000" cy="5765801"/>
          </a:xfrm>
          <a:prstGeom prst="rect">
            <a:avLst/>
          </a:prstGeom>
        </p:spPr>
      </p:pic>
      <p:sp>
        <p:nvSpPr>
          <p:cNvPr id="212" name="Objetiv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Objetivos</a:t>
            </a:r>
          </a:p>
        </p:txBody>
      </p:sp>
      <p:grpSp>
        <p:nvGrpSpPr>
          <p:cNvPr id="215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213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14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Objetiv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Objetivos</a:t>
            </a:r>
          </a:p>
        </p:txBody>
      </p:sp>
      <p:sp>
        <p:nvSpPr>
          <p:cNvPr id="218" name="Objetivo General…"/>
          <p:cNvSpPr txBox="1"/>
          <p:nvPr>
            <p:ph type="body" sz="half" idx="1"/>
          </p:nvPr>
        </p:nvSpPr>
        <p:spPr>
          <a:xfrm>
            <a:off x="439028" y="2153960"/>
            <a:ext cx="4630922" cy="646934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03245B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Objetivo General</a:t>
            </a:r>
          </a:p>
          <a:p>
            <a:pPr algn="just"/>
            <a:r>
              <a:t>Desarrollar la primera etapa del GRP de la alcaldía Magdalena Contreras para fortalecer los procesos de programación y ejercicio del presupuesto haciéndolo más eficiente, eficaz, transparente y apegado a la normatividad aplicable.</a:t>
            </a:r>
          </a:p>
        </p:txBody>
      </p:sp>
      <p:grpSp>
        <p:nvGrpSpPr>
          <p:cNvPr id="221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19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20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22" name="Objetivos Específicos…"/>
          <p:cNvSpPr txBox="1"/>
          <p:nvPr/>
        </p:nvSpPr>
        <p:spPr>
          <a:xfrm>
            <a:off x="5628634" y="2075808"/>
            <a:ext cx="7149323" cy="6727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algn="l">
              <a:spcBef>
                <a:spcPts val="2800"/>
              </a:spcBef>
              <a:defRPr spc="48">
                <a:solidFill>
                  <a:srgbClr val="03245B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Objetivos Específicos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Definir la arquitectura y estructura del GRP.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Identificar las necesidades prioritarias de las áreas involucradas.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Identificar la normatividad aplicable y definir la forma de incorporarla al GRP.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Desarrollar, validar y poner en marcha la primera etapa del GRP.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Estrategia de desarrol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Estrategia de desarrollo</a:t>
            </a:r>
          </a:p>
        </p:txBody>
      </p:sp>
      <p:sp>
        <p:nvSpPr>
          <p:cNvPr id="225" name="Desarrollo por Etapa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Desarrollo por Etapas.</a:t>
            </a:r>
          </a:p>
          <a:p>
            <a:pPr/>
            <a:r>
              <a:t>Uso de herramientas libres de licencia con alta madurez y confiabilidad.</a:t>
            </a:r>
          </a:p>
          <a:p>
            <a:pPr/>
            <a:r>
              <a:t>Bajo el esquema de gobierno abierto.</a:t>
            </a:r>
          </a:p>
          <a:p>
            <a:pPr/>
            <a:r>
              <a:t>Cesión de derechos de uso y explotación.</a:t>
            </a:r>
          </a:p>
        </p:txBody>
      </p:sp>
      <p:grpSp>
        <p:nvGrpSpPr>
          <p:cNvPr id="228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26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27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9" name="adorable-baby-blurred-background-813616-small.jpg" descr="adorable-baby-blurred-background-813616-small.jpg"/>
          <p:cNvPicPr>
            <a:picLocks noChangeAspect="1"/>
          </p:cNvPicPr>
          <p:nvPr/>
        </p:nvPicPr>
        <p:blipFill>
          <a:blip r:embed="rId3">
            <a:extLst/>
          </a:blip>
          <a:srcRect l="19889" t="0" r="19889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Beneficios espera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Beneficios esperados</a:t>
            </a:r>
          </a:p>
        </p:txBody>
      </p:sp>
      <p:sp>
        <p:nvSpPr>
          <p:cNvPr id="232" name="Facilitar la operación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Facilitar la operación</a:t>
            </a:r>
          </a:p>
          <a:p>
            <a:pPr lvl="1"/>
            <a:r>
              <a:t>Reducción de tiempos</a:t>
            </a:r>
          </a:p>
          <a:p>
            <a:pPr lvl="1"/>
            <a:r>
              <a:t>Reducción de costos</a:t>
            </a:r>
          </a:p>
          <a:p>
            <a:pPr/>
            <a:r>
              <a:t>Trazabilidad de los recursos desde su ingreso hasta su egreso</a:t>
            </a:r>
          </a:p>
          <a:p>
            <a:pPr lvl="1"/>
            <a:r>
              <a:t>Optimización de recursos</a:t>
            </a:r>
          </a:p>
          <a:p>
            <a:pPr lvl="1"/>
            <a:r>
              <a:t>Transparencia en el ejercicio del presupuesto</a:t>
            </a:r>
          </a:p>
        </p:txBody>
      </p:sp>
      <p:grpSp>
        <p:nvGrpSpPr>
          <p:cNvPr id="235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33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34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36" name="chart-close-up-data-590022-small.jpg" descr="chart-close-up-data-590022-small.jpg"/>
          <p:cNvPicPr>
            <a:picLocks noChangeAspect="1"/>
          </p:cNvPicPr>
          <p:nvPr/>
        </p:nvPicPr>
        <p:blipFill>
          <a:blip r:embed="rId3">
            <a:extLst/>
          </a:blip>
          <a:srcRect l="20033" t="0" r="20033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adult-american-board-1157859.jpg" descr="adult-american-board-1157859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355" r="0" b="21180"/>
          <a:stretch>
            <a:fillRect/>
          </a:stretch>
        </p:blipFill>
        <p:spPr>
          <a:xfrm>
            <a:off x="533400" y="3479800"/>
            <a:ext cx="11938000" cy="5765800"/>
          </a:xfrm>
          <a:prstGeom prst="rect">
            <a:avLst/>
          </a:prstGeom>
        </p:spPr>
      </p:pic>
      <p:sp>
        <p:nvSpPr>
          <p:cNvPr id="239" name="Alcance propues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Alcance propuesto</a:t>
            </a:r>
          </a:p>
        </p:txBody>
      </p:sp>
      <p:grpSp>
        <p:nvGrpSpPr>
          <p:cNvPr id="242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240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41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Módulos Propues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Módulos Propuestos</a:t>
            </a:r>
          </a:p>
        </p:txBody>
      </p:sp>
      <p:grpSp>
        <p:nvGrpSpPr>
          <p:cNvPr id="247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45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46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48" name="S2- Planeación"/>
          <p:cNvSpPr/>
          <p:nvPr/>
        </p:nvSpPr>
        <p:spPr>
          <a:xfrm>
            <a:off x="2507361" y="7948632"/>
            <a:ext cx="7136259" cy="863301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S2- Planeación</a:t>
            </a:r>
          </a:p>
        </p:txBody>
      </p:sp>
      <p:sp>
        <p:nvSpPr>
          <p:cNvPr id="249" name="S3- Presupuestos"/>
          <p:cNvSpPr/>
          <p:nvPr/>
        </p:nvSpPr>
        <p:spPr>
          <a:xfrm>
            <a:off x="2437420" y="6439260"/>
            <a:ext cx="3188303" cy="863300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S3- Presupuestos</a:t>
            </a:r>
          </a:p>
        </p:txBody>
      </p:sp>
      <p:sp>
        <p:nvSpPr>
          <p:cNvPr id="250" name="S1- Configuración"/>
          <p:cNvSpPr/>
          <p:nvPr/>
        </p:nvSpPr>
        <p:spPr>
          <a:xfrm rot="16200000">
            <a:off x="7771534" y="5308749"/>
            <a:ext cx="6285727" cy="771178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S1- Configuración</a:t>
            </a:r>
          </a:p>
        </p:txBody>
      </p:sp>
      <p:sp>
        <p:nvSpPr>
          <p:cNvPr id="251" name="S4-Capital Humano"/>
          <p:cNvSpPr/>
          <p:nvPr/>
        </p:nvSpPr>
        <p:spPr>
          <a:xfrm>
            <a:off x="6685627" y="6391230"/>
            <a:ext cx="2913453" cy="863300"/>
          </a:xfrm>
          <a:prstGeom prst="rect">
            <a:avLst/>
          </a:prstGeom>
          <a:solidFill>
            <a:schemeClr val="accent3">
              <a:hueOff val="-546623"/>
              <a:satOff val="7767"/>
              <a:lumOff val="-14512"/>
            </a:schemeClr>
          </a:solid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S4-Capital Humano</a:t>
            </a:r>
          </a:p>
        </p:txBody>
      </p:sp>
      <p:sp>
        <p:nvSpPr>
          <p:cNvPr id="252" name="Flecha"/>
          <p:cNvSpPr/>
          <p:nvPr/>
        </p:nvSpPr>
        <p:spPr>
          <a:xfrm>
            <a:off x="9698645" y="6542471"/>
            <a:ext cx="771179" cy="656878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6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3" name="Flecha"/>
          <p:cNvSpPr/>
          <p:nvPr/>
        </p:nvSpPr>
        <p:spPr>
          <a:xfrm rot="10800000">
            <a:off x="9698645" y="8051843"/>
            <a:ext cx="771179" cy="656879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7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4" name="S6- Almacén"/>
          <p:cNvSpPr/>
          <p:nvPr/>
        </p:nvSpPr>
        <p:spPr>
          <a:xfrm>
            <a:off x="2437420" y="4277978"/>
            <a:ext cx="2013894" cy="998089"/>
          </a:xfrm>
          <a:prstGeom prst="rect">
            <a:avLst/>
          </a:prstGeom>
          <a:blipFill>
            <a:blip r:embed="rId8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S6- Almacén</a:t>
            </a:r>
          </a:p>
        </p:txBody>
      </p:sp>
      <p:sp>
        <p:nvSpPr>
          <p:cNvPr id="255" name="Flecha"/>
          <p:cNvSpPr/>
          <p:nvPr/>
        </p:nvSpPr>
        <p:spPr>
          <a:xfrm rot="16200000">
            <a:off x="3149664" y="5520680"/>
            <a:ext cx="906091" cy="630387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9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6" name="S7-Vehículos"/>
          <p:cNvSpPr/>
          <p:nvPr/>
        </p:nvSpPr>
        <p:spPr>
          <a:xfrm>
            <a:off x="2437420" y="2362009"/>
            <a:ext cx="2013894" cy="998088"/>
          </a:xfrm>
          <a:prstGeom prst="rect">
            <a:avLst/>
          </a:prstGeom>
          <a:solidFill>
            <a:schemeClr val="accent4">
              <a:satOff val="1488"/>
              <a:lumOff val="-7242"/>
            </a:schemeClr>
          </a:solid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S7-Vehículos</a:t>
            </a:r>
          </a:p>
        </p:txBody>
      </p:sp>
      <p:sp>
        <p:nvSpPr>
          <p:cNvPr id="257" name="Flecha"/>
          <p:cNvSpPr/>
          <p:nvPr/>
        </p:nvSpPr>
        <p:spPr>
          <a:xfrm rot="16200000">
            <a:off x="4247747" y="7240540"/>
            <a:ext cx="500559" cy="630387"/>
          </a:xfrm>
          <a:prstGeom prst="rightArrow">
            <a:avLst>
              <a:gd name="adj1" fmla="val 48875"/>
              <a:gd name="adj2" fmla="val 63424"/>
            </a:avLst>
          </a:prstGeom>
          <a:blipFill>
            <a:blip r:embed="rId10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8" name="Flecha"/>
          <p:cNvSpPr/>
          <p:nvPr/>
        </p:nvSpPr>
        <p:spPr>
          <a:xfrm rot="16200000">
            <a:off x="8192958" y="7240540"/>
            <a:ext cx="500559" cy="630387"/>
          </a:xfrm>
          <a:prstGeom prst="rightArrow">
            <a:avLst>
              <a:gd name="adj1" fmla="val 48875"/>
              <a:gd name="adj2" fmla="val 63424"/>
            </a:avLst>
          </a:prstGeom>
          <a:blipFill>
            <a:blip r:embed="rId11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9" name="Flecha"/>
          <p:cNvSpPr/>
          <p:nvPr/>
        </p:nvSpPr>
        <p:spPr>
          <a:xfrm rot="16200000">
            <a:off x="4840002" y="5542027"/>
            <a:ext cx="941056" cy="630387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12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60" name="Flecha"/>
          <p:cNvSpPr/>
          <p:nvPr/>
        </p:nvSpPr>
        <p:spPr>
          <a:xfrm rot="16200000">
            <a:off x="3069717" y="3503844"/>
            <a:ext cx="749301" cy="630387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13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61" name="S5-Tesoreria"/>
          <p:cNvSpPr/>
          <p:nvPr/>
        </p:nvSpPr>
        <p:spPr>
          <a:xfrm>
            <a:off x="4857534" y="4277978"/>
            <a:ext cx="4085482" cy="998089"/>
          </a:xfrm>
          <a:prstGeom prst="rect">
            <a:avLst/>
          </a:prstGeom>
          <a:blipFill>
            <a:blip r:embed="rId14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S5-Tesoreria</a:t>
            </a:r>
          </a:p>
        </p:txBody>
      </p:sp>
      <p:sp>
        <p:nvSpPr>
          <p:cNvPr id="262" name="Flecha"/>
          <p:cNvSpPr/>
          <p:nvPr/>
        </p:nvSpPr>
        <p:spPr>
          <a:xfrm rot="16200000">
            <a:off x="7397667" y="5518455"/>
            <a:ext cx="941056" cy="630387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15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63" name="Flecha"/>
          <p:cNvSpPr/>
          <p:nvPr/>
        </p:nvSpPr>
        <p:spPr>
          <a:xfrm rot="16200000">
            <a:off x="4901769" y="6297156"/>
            <a:ext cx="2507812" cy="630387"/>
          </a:xfrm>
          <a:prstGeom prst="rightArrow">
            <a:avLst>
              <a:gd name="adj1" fmla="val 48875"/>
              <a:gd name="adj2" fmla="val 50362"/>
            </a:avLst>
          </a:prstGeom>
          <a:blipFill>
            <a:blip r:embed="rId16"/>
          </a:blipFill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64" name="Rectángulo"/>
          <p:cNvSpPr/>
          <p:nvPr/>
        </p:nvSpPr>
        <p:spPr>
          <a:xfrm>
            <a:off x="2180514" y="6857185"/>
            <a:ext cx="9439521" cy="2264664"/>
          </a:xfrm>
          <a:prstGeom prst="rect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Alcance Módulo de CONFIGURACIó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Alcance Módulo de CONFIGURACIóN</a:t>
            </a:r>
          </a:p>
        </p:txBody>
      </p:sp>
      <p:sp>
        <p:nvSpPr>
          <p:cNvPr id="267" name="En esta etapa…"/>
          <p:cNvSpPr txBox="1"/>
          <p:nvPr>
            <p:ph type="body" sz="quarter" idx="1"/>
          </p:nvPr>
        </p:nvSpPr>
        <p:spPr>
          <a:xfrm>
            <a:off x="673100" y="2603500"/>
            <a:ext cx="4775200" cy="3902869"/>
          </a:xfrm>
          <a:prstGeom prst="rect">
            <a:avLst/>
          </a:prstGeom>
        </p:spPr>
        <p:txBody>
          <a:bodyPr/>
          <a:lstStyle/>
          <a:p>
            <a:pPr marL="0" indent="0" defTabSz="393192">
              <a:spcBef>
                <a:spcPts val="2400"/>
              </a:spcBef>
              <a:buSzTx/>
              <a:buNone/>
              <a:defRPr spc="41" sz="2064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En esta etapa</a:t>
            </a:r>
          </a:p>
          <a:p>
            <a:pPr marL="327660" indent="-327660" defTabSz="393192">
              <a:spcBef>
                <a:spcPts val="2400"/>
              </a:spcBef>
              <a:defRPr spc="41" sz="2064"/>
            </a:pPr>
            <a:r>
              <a:t>Gestión de catálogos, incluye COG y CABMS)</a:t>
            </a:r>
          </a:p>
          <a:p>
            <a:pPr marL="327660" indent="-327660" defTabSz="393192">
              <a:spcBef>
                <a:spcPts val="2400"/>
              </a:spcBef>
              <a:defRPr spc="41" sz="2064"/>
            </a:pPr>
            <a:r>
              <a:t>Gestión de usuarios.</a:t>
            </a:r>
          </a:p>
          <a:p>
            <a:pPr marL="327660" indent="-327660" defTabSz="393192">
              <a:spcBef>
                <a:spcPts val="2400"/>
              </a:spcBef>
              <a:defRPr spc="41" sz="2064"/>
            </a:pPr>
            <a:r>
              <a:t>Gestión de roles por usuario.</a:t>
            </a:r>
          </a:p>
          <a:p>
            <a:pPr marL="327660" indent="-327660" defTabSz="393192">
              <a:spcBef>
                <a:spcPts val="2400"/>
              </a:spcBef>
              <a:defRPr spc="41" sz="2064"/>
            </a:pPr>
            <a:r>
              <a:t>Bloqueo y desbloqueo de usuarios.</a:t>
            </a:r>
          </a:p>
        </p:txBody>
      </p:sp>
      <p:grpSp>
        <p:nvGrpSpPr>
          <p:cNvPr id="270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68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69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71" name="achievement-agreement-arms-1068523.jpg" descr="achievement-agreement-arms-1068523.jpg"/>
          <p:cNvPicPr>
            <a:picLocks noChangeAspect="1"/>
          </p:cNvPicPr>
          <p:nvPr/>
        </p:nvPicPr>
        <p:blipFill>
          <a:blip r:embed="rId3">
            <a:extLst/>
          </a:blip>
          <a:srcRect l="20411" t="0" r="20411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Alcance Módulo de Planeació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Alcance Módulo de Planeación</a:t>
            </a:r>
          </a:p>
        </p:txBody>
      </p:sp>
      <p:sp>
        <p:nvSpPr>
          <p:cNvPr id="274" name="En esta etapa:…"/>
          <p:cNvSpPr txBox="1"/>
          <p:nvPr>
            <p:ph type="body" sz="half" idx="1"/>
          </p:nvPr>
        </p:nvSpPr>
        <p:spPr>
          <a:xfrm>
            <a:off x="673100" y="2312316"/>
            <a:ext cx="4775200" cy="60198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En esta etapa:</a:t>
            </a:r>
          </a:p>
          <a:p>
            <a:pPr/>
            <a:r>
              <a:t>Gestión de áreas.</a:t>
            </a:r>
          </a:p>
          <a:p>
            <a:pPr/>
            <a:r>
              <a:t>Gestión de POA.</a:t>
            </a:r>
          </a:p>
          <a:p>
            <a:pPr lvl="1"/>
            <a:r>
              <a:t>Gestión de requisiciones.</a:t>
            </a:r>
          </a:p>
          <a:p>
            <a:pPr lvl="1"/>
            <a:r>
              <a:t>Gestión de anteproyectos.</a:t>
            </a:r>
          </a:p>
          <a:p>
            <a:pPr lvl="1"/>
            <a:r>
              <a:t>Gestión de metas.</a:t>
            </a:r>
          </a:p>
          <a:p>
            <a:pPr lvl="1"/>
            <a:r>
              <a:t>Notificaciones.</a:t>
            </a:r>
          </a:p>
          <a:p>
            <a:pPr/>
            <a:r>
              <a:t>Reportes.</a:t>
            </a:r>
          </a:p>
        </p:txBody>
      </p:sp>
      <p:grpSp>
        <p:nvGrpSpPr>
          <p:cNvPr id="277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75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76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78" name="pasted-image.png" descr="pasted-image.png"/>
          <p:cNvPicPr>
            <a:picLocks noChangeAspect="1"/>
          </p:cNvPicPr>
          <p:nvPr/>
        </p:nvPicPr>
        <p:blipFill>
          <a:blip r:embed="rId3">
            <a:extLst/>
          </a:blip>
          <a:srcRect l="19838" t="0" r="19838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Alcance módulo presupues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Alcance módulo presupuestos</a:t>
            </a:r>
          </a:p>
        </p:txBody>
      </p:sp>
      <p:sp>
        <p:nvSpPr>
          <p:cNvPr id="281" name="En esta etapa:…"/>
          <p:cNvSpPr txBox="1"/>
          <p:nvPr>
            <p:ph type="body" sz="half" idx="1"/>
          </p:nvPr>
        </p:nvSpPr>
        <p:spPr>
          <a:xfrm>
            <a:off x="512105" y="1867249"/>
            <a:ext cx="4775201" cy="680653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En esta etapa:</a:t>
            </a:r>
          </a:p>
          <a:p>
            <a:pPr/>
            <a:r>
              <a:t>Gestión de presupuestos aceptados.</a:t>
            </a:r>
          </a:p>
          <a:p>
            <a:pPr/>
            <a:r>
              <a:t>Gestión de presupuestos preasignados</a:t>
            </a:r>
          </a:p>
          <a:p>
            <a:pPr/>
            <a:r>
              <a:t>Reportes</a:t>
            </a:r>
          </a:p>
          <a:p>
            <a:pPr marL="0" indent="0">
              <a:buSzTx/>
              <a:buNone/>
            </a:pP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En próximas etapas:</a:t>
            </a:r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/>
            <a:r>
              <a:t>Gestión de contratación de servicios.</a:t>
            </a:r>
          </a:p>
          <a:p>
            <a:pPr/>
            <a:r>
              <a:t>Gestión de pagos realizados.</a:t>
            </a:r>
          </a:p>
        </p:txBody>
      </p:sp>
      <p:grpSp>
        <p:nvGrpSpPr>
          <p:cNvPr id="284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82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83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85" name="pasted-image.png" descr="pasted-image.png"/>
          <p:cNvPicPr>
            <a:picLocks noChangeAspect="1"/>
          </p:cNvPicPr>
          <p:nvPr/>
        </p:nvPicPr>
        <p:blipFill>
          <a:blip r:embed="rId3">
            <a:extLst/>
          </a:blip>
          <a:srcRect l="16067" t="0" r="16067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Alcance Módulo de Capital Human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Alcance Módulo de Capital Humano</a:t>
            </a:r>
          </a:p>
        </p:txBody>
      </p:sp>
      <p:grpSp>
        <p:nvGrpSpPr>
          <p:cNvPr id="290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88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89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91" name="En esta etapa:…"/>
          <p:cNvSpPr txBox="1"/>
          <p:nvPr/>
        </p:nvSpPr>
        <p:spPr>
          <a:xfrm>
            <a:off x="1224154" y="1765485"/>
            <a:ext cx="4775201" cy="5163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algn="l">
              <a:spcBef>
                <a:spcPts val="2800"/>
              </a:spcBef>
              <a:defRPr spc="48">
                <a:solidFill>
                  <a:srgbClr val="797979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En esta etapa: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Gestión de Recursos Humanos.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Gestión de plazas de trabajo.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Gestión de puestos de trabajo.</a:t>
            </a:r>
          </a:p>
          <a:p>
            <a:pPr marL="381000" indent="-381000" algn="l">
              <a:spcBef>
                <a:spcPts val="2800"/>
              </a:spcBef>
              <a:buClr>
                <a:srgbClr val="9A958E"/>
              </a:buClr>
              <a:buSzPct val="75000"/>
              <a:buChar char="•"/>
              <a:defRPr spc="48">
                <a:solidFill>
                  <a:srgbClr val="797979"/>
                </a:solidFill>
              </a:defRPr>
            </a:pPr>
            <a:r>
              <a:t>Reportes.</a:t>
            </a:r>
          </a:p>
        </p:txBody>
      </p:sp>
      <p:pic>
        <p:nvPicPr>
          <p:cNvPr id="292" name="accomplishment-achievement-adult-1059120.jpg" descr="accomplishment-achievement-adult-1059120.jpg"/>
          <p:cNvPicPr>
            <a:picLocks noChangeAspect="1"/>
          </p:cNvPicPr>
          <p:nvPr/>
        </p:nvPicPr>
        <p:blipFill>
          <a:blip r:embed="rId3">
            <a:extLst/>
          </a:blip>
          <a:srcRect l="13413" t="0" r="13413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lación de ENTREGAB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Relación de ENTREGABLES</a:t>
            </a:r>
          </a:p>
        </p:txBody>
      </p:sp>
      <p:sp>
        <p:nvSpPr>
          <p:cNvPr id="295" name="E1 - Plan ejecutivo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E1 - Plan ejecutivo</a:t>
            </a:r>
          </a:p>
          <a:p>
            <a:pPr/>
            <a:r>
              <a:t>E2 - Especificación del sistema</a:t>
            </a:r>
          </a:p>
          <a:p>
            <a:pPr/>
            <a:r>
              <a:t>E3- Software</a:t>
            </a:r>
          </a:p>
          <a:p>
            <a:pPr/>
            <a:r>
              <a:t>E4 - Cesión de derechos</a:t>
            </a:r>
          </a:p>
          <a:p>
            <a:pPr/>
            <a:r>
              <a:t>E5 - Plan de soporte técnico</a:t>
            </a:r>
          </a:p>
        </p:txBody>
      </p:sp>
      <p:grpSp>
        <p:nvGrpSpPr>
          <p:cNvPr id="298" name="Agrupar"/>
          <p:cNvGrpSpPr/>
          <p:nvPr/>
        </p:nvGrpSpPr>
        <p:grpSpPr>
          <a:xfrm>
            <a:off x="11467785" y="8314351"/>
            <a:ext cx="1333501" cy="1333501"/>
            <a:chOff x="0" y="0"/>
            <a:chExt cx="1333500" cy="1333500"/>
          </a:xfrm>
        </p:grpSpPr>
        <p:sp>
          <p:nvSpPr>
            <p:cNvPr id="296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297" name="CIT-white.png" descr="CIT-white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99" name="pasted-image.png" descr="pasted-image.png"/>
          <p:cNvPicPr>
            <a:picLocks noChangeAspect="1"/>
          </p:cNvPicPr>
          <p:nvPr/>
        </p:nvPicPr>
        <p:blipFill>
          <a:blip r:embed="rId3">
            <a:extLst/>
          </a:blip>
          <a:srcRect l="24550" t="0" r="24550" b="0"/>
          <a:stretch>
            <a:fillRect/>
          </a:stretch>
        </p:blipFill>
        <p:spPr>
          <a:xfrm>
            <a:off x="6172200" y="2324089"/>
            <a:ext cx="5943600" cy="6568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Rectángulo Rectángulo" descr="Rectángulo Rectángulo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247" y="2951392"/>
            <a:ext cx="12078306" cy="5898963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sp>
        <p:nvSpPr>
          <p:cNvPr id="302" name="Proceso de desarrol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16052">
              <a:defRPr spc="134" sz="6734"/>
            </a:lvl1pPr>
          </a:lstStyle>
          <a:p>
            <a:pPr/>
            <a:r>
              <a:t>Proceso de desarrollo</a:t>
            </a:r>
          </a:p>
        </p:txBody>
      </p:sp>
      <p:grpSp>
        <p:nvGrpSpPr>
          <p:cNvPr id="305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303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304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306" name="icon-sales.png" descr="icon-sales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84428" y="4998313"/>
            <a:ext cx="2634962" cy="1805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scrum-a5c44d8364.png" descr="scrum-a5c44d836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7095" y="4364636"/>
            <a:ext cx="3072475" cy="3072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68747470733a2f2f64746235707a737763697431652e636c6f756466726f6e742e6e65742f6173736574732f696d616765732f70726f647563745f6c6f676f732f69636f6e5f7069766f74616c636f6e7461696e6572736572766963654032782e706e67.png" descr="68747470733a2f2f64746235707a737763697431652e636c6f756466726f6e742e6e65742f6173736574732f696d616765732f70726f647563745f6c6f676f732f69636f6e5f7069766f74616c636f6e7461696e6572736572766963654032782e706e67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846737" y="4998313"/>
            <a:ext cx="1757258" cy="1805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s-1.png" descr="images-1.png"/>
          <p:cNvPicPr>
            <a:picLocks noChangeAspect="1"/>
          </p:cNvPicPr>
          <p:nvPr/>
        </p:nvPicPr>
        <p:blipFill>
          <a:blip r:embed="rId7">
            <a:extLst/>
          </a:blip>
          <a:srcRect l="17524" t="521" r="17520" b="488"/>
          <a:stretch>
            <a:fillRect/>
          </a:stretch>
        </p:blipFill>
        <p:spPr>
          <a:xfrm>
            <a:off x="9808911" y="4945335"/>
            <a:ext cx="1141413" cy="1739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7" h="21600" fill="norm" stroke="1" extrusionOk="0">
                <a:moveTo>
                  <a:pt x="10763" y="0"/>
                </a:moveTo>
                <a:lnTo>
                  <a:pt x="9932" y="522"/>
                </a:lnTo>
                <a:lnTo>
                  <a:pt x="9109" y="1045"/>
                </a:lnTo>
                <a:lnTo>
                  <a:pt x="8106" y="729"/>
                </a:lnTo>
                <a:cubicBezTo>
                  <a:pt x="7555" y="556"/>
                  <a:pt x="7073" y="439"/>
                  <a:pt x="7036" y="468"/>
                </a:cubicBezTo>
                <a:cubicBezTo>
                  <a:pt x="6998" y="497"/>
                  <a:pt x="6766" y="785"/>
                  <a:pt x="6519" y="1104"/>
                </a:cubicBezTo>
                <a:cubicBezTo>
                  <a:pt x="6136" y="1600"/>
                  <a:pt x="5900" y="1692"/>
                  <a:pt x="4895" y="1740"/>
                </a:cubicBezTo>
                <a:cubicBezTo>
                  <a:pt x="3751" y="1794"/>
                  <a:pt x="3719" y="1816"/>
                  <a:pt x="3585" y="2518"/>
                </a:cubicBezTo>
                <a:cubicBezTo>
                  <a:pt x="3459" y="3177"/>
                  <a:pt x="3355" y="3254"/>
                  <a:pt x="2410" y="3400"/>
                </a:cubicBezTo>
                <a:cubicBezTo>
                  <a:pt x="1260" y="3578"/>
                  <a:pt x="1273" y="3563"/>
                  <a:pt x="1631" y="4386"/>
                </a:cubicBezTo>
                <a:cubicBezTo>
                  <a:pt x="1866" y="4924"/>
                  <a:pt x="1806" y="5016"/>
                  <a:pt x="943" y="5485"/>
                </a:cubicBezTo>
                <a:lnTo>
                  <a:pt x="0" y="5998"/>
                </a:lnTo>
                <a:lnTo>
                  <a:pt x="651" y="6618"/>
                </a:lnTo>
                <a:lnTo>
                  <a:pt x="1302" y="7244"/>
                </a:lnTo>
                <a:lnTo>
                  <a:pt x="606" y="7846"/>
                </a:lnTo>
                <a:cubicBezTo>
                  <a:pt x="225" y="8175"/>
                  <a:pt x="-37" y="8466"/>
                  <a:pt x="22" y="8496"/>
                </a:cubicBezTo>
                <a:cubicBezTo>
                  <a:pt x="81" y="8526"/>
                  <a:pt x="522" y="8731"/>
                  <a:pt x="1003" y="8949"/>
                </a:cubicBezTo>
                <a:cubicBezTo>
                  <a:pt x="1826" y="9324"/>
                  <a:pt x="1866" y="9386"/>
                  <a:pt x="1609" y="9999"/>
                </a:cubicBezTo>
                <a:cubicBezTo>
                  <a:pt x="1297" y="10744"/>
                  <a:pt x="1354" y="10806"/>
                  <a:pt x="2560" y="11064"/>
                </a:cubicBezTo>
                <a:cubicBezTo>
                  <a:pt x="3102" y="11180"/>
                  <a:pt x="3466" y="11391"/>
                  <a:pt x="3518" y="11616"/>
                </a:cubicBezTo>
                <a:cubicBezTo>
                  <a:pt x="3768" y="12712"/>
                  <a:pt x="3785" y="12718"/>
                  <a:pt x="4940" y="12646"/>
                </a:cubicBezTo>
                <a:cubicBezTo>
                  <a:pt x="5978" y="12580"/>
                  <a:pt x="6060" y="12614"/>
                  <a:pt x="6452" y="13232"/>
                </a:cubicBezTo>
                <a:cubicBezTo>
                  <a:pt x="6913" y="13960"/>
                  <a:pt x="7123" y="14004"/>
                  <a:pt x="8248" y="13621"/>
                </a:cubicBezTo>
                <a:cubicBezTo>
                  <a:pt x="8985" y="13371"/>
                  <a:pt x="9063" y="13387"/>
                  <a:pt x="9805" y="13897"/>
                </a:cubicBezTo>
                <a:cubicBezTo>
                  <a:pt x="10235" y="14193"/>
                  <a:pt x="10668" y="14434"/>
                  <a:pt x="10763" y="14434"/>
                </a:cubicBezTo>
                <a:cubicBezTo>
                  <a:pt x="10858" y="14434"/>
                  <a:pt x="11284" y="14193"/>
                  <a:pt x="11714" y="13897"/>
                </a:cubicBezTo>
                <a:cubicBezTo>
                  <a:pt x="12455" y="13387"/>
                  <a:pt x="12534" y="13371"/>
                  <a:pt x="13270" y="13621"/>
                </a:cubicBezTo>
                <a:cubicBezTo>
                  <a:pt x="14396" y="14004"/>
                  <a:pt x="14613" y="13960"/>
                  <a:pt x="15074" y="13232"/>
                </a:cubicBezTo>
                <a:cubicBezTo>
                  <a:pt x="15466" y="12614"/>
                  <a:pt x="15548" y="12580"/>
                  <a:pt x="16586" y="12646"/>
                </a:cubicBezTo>
                <a:cubicBezTo>
                  <a:pt x="17741" y="12718"/>
                  <a:pt x="17750" y="12712"/>
                  <a:pt x="18001" y="11616"/>
                </a:cubicBezTo>
                <a:cubicBezTo>
                  <a:pt x="18052" y="11391"/>
                  <a:pt x="18424" y="11180"/>
                  <a:pt x="18966" y="11064"/>
                </a:cubicBezTo>
                <a:cubicBezTo>
                  <a:pt x="20172" y="10806"/>
                  <a:pt x="20229" y="10744"/>
                  <a:pt x="19917" y="9999"/>
                </a:cubicBezTo>
                <a:cubicBezTo>
                  <a:pt x="19660" y="9386"/>
                  <a:pt x="19700" y="9324"/>
                  <a:pt x="20523" y="8949"/>
                </a:cubicBezTo>
                <a:cubicBezTo>
                  <a:pt x="21004" y="8731"/>
                  <a:pt x="21445" y="8526"/>
                  <a:pt x="21504" y="8496"/>
                </a:cubicBezTo>
                <a:cubicBezTo>
                  <a:pt x="21563" y="8466"/>
                  <a:pt x="21301" y="8175"/>
                  <a:pt x="20920" y="7846"/>
                </a:cubicBezTo>
                <a:lnTo>
                  <a:pt x="20224" y="7244"/>
                </a:lnTo>
                <a:lnTo>
                  <a:pt x="20875" y="6618"/>
                </a:lnTo>
                <a:lnTo>
                  <a:pt x="21526" y="5998"/>
                </a:lnTo>
                <a:lnTo>
                  <a:pt x="20583" y="5485"/>
                </a:lnTo>
                <a:cubicBezTo>
                  <a:pt x="19720" y="5016"/>
                  <a:pt x="19660" y="4924"/>
                  <a:pt x="19895" y="4386"/>
                </a:cubicBezTo>
                <a:cubicBezTo>
                  <a:pt x="20253" y="3563"/>
                  <a:pt x="20266" y="3578"/>
                  <a:pt x="19116" y="3400"/>
                </a:cubicBezTo>
                <a:cubicBezTo>
                  <a:pt x="18171" y="3254"/>
                  <a:pt x="18067" y="3177"/>
                  <a:pt x="17941" y="2518"/>
                </a:cubicBezTo>
                <a:cubicBezTo>
                  <a:pt x="17807" y="1816"/>
                  <a:pt x="17775" y="1794"/>
                  <a:pt x="16631" y="1740"/>
                </a:cubicBezTo>
                <a:cubicBezTo>
                  <a:pt x="15626" y="1692"/>
                  <a:pt x="15390" y="1600"/>
                  <a:pt x="15007" y="1104"/>
                </a:cubicBezTo>
                <a:cubicBezTo>
                  <a:pt x="14760" y="785"/>
                  <a:pt x="14528" y="497"/>
                  <a:pt x="14490" y="468"/>
                </a:cubicBezTo>
                <a:cubicBezTo>
                  <a:pt x="14453" y="439"/>
                  <a:pt x="13971" y="556"/>
                  <a:pt x="13420" y="729"/>
                </a:cubicBezTo>
                <a:lnTo>
                  <a:pt x="12417" y="1045"/>
                </a:lnTo>
                <a:lnTo>
                  <a:pt x="11594" y="522"/>
                </a:lnTo>
                <a:lnTo>
                  <a:pt x="10763" y="0"/>
                </a:lnTo>
                <a:close/>
                <a:moveTo>
                  <a:pt x="4116" y="13868"/>
                </a:moveTo>
                <a:cubicBezTo>
                  <a:pt x="3686" y="13839"/>
                  <a:pt x="3090" y="14661"/>
                  <a:pt x="1856" y="16899"/>
                </a:cubicBezTo>
                <a:cubicBezTo>
                  <a:pt x="984" y="18479"/>
                  <a:pt x="315" y="19797"/>
                  <a:pt x="366" y="19831"/>
                </a:cubicBezTo>
                <a:cubicBezTo>
                  <a:pt x="418" y="19865"/>
                  <a:pt x="1299" y="19723"/>
                  <a:pt x="2320" y="19515"/>
                </a:cubicBezTo>
                <a:cubicBezTo>
                  <a:pt x="4483" y="19076"/>
                  <a:pt x="4539" y="19096"/>
                  <a:pt x="5860" y="20550"/>
                </a:cubicBezTo>
                <a:cubicBezTo>
                  <a:pt x="6344" y="21083"/>
                  <a:pt x="6827" y="21456"/>
                  <a:pt x="6931" y="21383"/>
                </a:cubicBezTo>
                <a:cubicBezTo>
                  <a:pt x="7034" y="21310"/>
                  <a:pt x="7639" y="20272"/>
                  <a:pt x="8278" y="19072"/>
                </a:cubicBezTo>
                <a:cubicBezTo>
                  <a:pt x="8917" y="17872"/>
                  <a:pt x="9613" y="16609"/>
                  <a:pt x="9827" y="16268"/>
                </a:cubicBezTo>
                <a:cubicBezTo>
                  <a:pt x="10190" y="15690"/>
                  <a:pt x="10181" y="15617"/>
                  <a:pt x="9618" y="15223"/>
                </a:cubicBezTo>
                <a:cubicBezTo>
                  <a:pt x="8901" y="14720"/>
                  <a:pt x="8537" y="14696"/>
                  <a:pt x="7380" y="15090"/>
                </a:cubicBezTo>
                <a:cubicBezTo>
                  <a:pt x="6551" y="15372"/>
                  <a:pt x="6494" y="15370"/>
                  <a:pt x="6040" y="15001"/>
                </a:cubicBezTo>
                <a:cubicBezTo>
                  <a:pt x="5779" y="14789"/>
                  <a:pt x="5507" y="14617"/>
                  <a:pt x="5434" y="14617"/>
                </a:cubicBezTo>
                <a:cubicBezTo>
                  <a:pt x="5361" y="14617"/>
                  <a:pt x="4830" y="15493"/>
                  <a:pt x="4259" y="16568"/>
                </a:cubicBezTo>
                <a:cubicBezTo>
                  <a:pt x="3687" y="17643"/>
                  <a:pt x="3026" y="18626"/>
                  <a:pt x="2792" y="18752"/>
                </a:cubicBezTo>
                <a:cubicBezTo>
                  <a:pt x="1817" y="19273"/>
                  <a:pt x="1923" y="18567"/>
                  <a:pt x="3151" y="16337"/>
                </a:cubicBezTo>
                <a:cubicBezTo>
                  <a:pt x="3853" y="15062"/>
                  <a:pt x="4371" y="13981"/>
                  <a:pt x="4296" y="13932"/>
                </a:cubicBezTo>
                <a:cubicBezTo>
                  <a:pt x="4240" y="13895"/>
                  <a:pt x="4178" y="13872"/>
                  <a:pt x="4116" y="13868"/>
                </a:cubicBezTo>
                <a:close/>
                <a:moveTo>
                  <a:pt x="16758" y="13917"/>
                </a:moveTo>
                <a:cubicBezTo>
                  <a:pt x="16395" y="13941"/>
                  <a:pt x="16236" y="14072"/>
                  <a:pt x="16017" y="14420"/>
                </a:cubicBezTo>
                <a:cubicBezTo>
                  <a:pt x="15480" y="15274"/>
                  <a:pt x="15079" y="15410"/>
                  <a:pt x="14109" y="15080"/>
                </a:cubicBezTo>
                <a:cubicBezTo>
                  <a:pt x="13650" y="14924"/>
                  <a:pt x="13224" y="14799"/>
                  <a:pt x="13158" y="14799"/>
                </a:cubicBezTo>
                <a:cubicBezTo>
                  <a:pt x="13092" y="14799"/>
                  <a:pt x="13628" y="15840"/>
                  <a:pt x="14356" y="17115"/>
                </a:cubicBezTo>
                <a:cubicBezTo>
                  <a:pt x="15333" y="18826"/>
                  <a:pt x="15607" y="19494"/>
                  <a:pt x="15389" y="19668"/>
                </a:cubicBezTo>
                <a:cubicBezTo>
                  <a:pt x="14905" y="20054"/>
                  <a:pt x="14519" y="19630"/>
                  <a:pt x="13241" y="17298"/>
                </a:cubicBezTo>
                <a:cubicBezTo>
                  <a:pt x="12269" y="15524"/>
                  <a:pt x="11999" y="15195"/>
                  <a:pt x="11676" y="15371"/>
                </a:cubicBezTo>
                <a:cubicBezTo>
                  <a:pt x="11460" y="15489"/>
                  <a:pt x="11373" y="15713"/>
                  <a:pt x="11474" y="15874"/>
                </a:cubicBezTo>
                <a:cubicBezTo>
                  <a:pt x="11574" y="16033"/>
                  <a:pt x="12191" y="17142"/>
                  <a:pt x="12844" y="18343"/>
                </a:cubicBezTo>
                <a:cubicBezTo>
                  <a:pt x="13497" y="19543"/>
                  <a:pt x="14168" y="20767"/>
                  <a:pt x="14341" y="21063"/>
                </a:cubicBezTo>
                <a:lnTo>
                  <a:pt x="14655" y="21600"/>
                </a:lnTo>
                <a:lnTo>
                  <a:pt x="15718" y="20491"/>
                </a:lnTo>
                <a:cubicBezTo>
                  <a:pt x="16302" y="19883"/>
                  <a:pt x="16916" y="19331"/>
                  <a:pt x="17080" y="19264"/>
                </a:cubicBezTo>
                <a:cubicBezTo>
                  <a:pt x="17245" y="19197"/>
                  <a:pt x="18207" y="19314"/>
                  <a:pt x="19221" y="19520"/>
                </a:cubicBezTo>
                <a:cubicBezTo>
                  <a:pt x="20234" y="19726"/>
                  <a:pt x="21107" y="19865"/>
                  <a:pt x="21160" y="19831"/>
                </a:cubicBezTo>
                <a:cubicBezTo>
                  <a:pt x="21212" y="19797"/>
                  <a:pt x="20533" y="18466"/>
                  <a:pt x="19648" y="16874"/>
                </a:cubicBezTo>
                <a:cubicBezTo>
                  <a:pt x="18082" y="14056"/>
                  <a:pt x="18013" y="13976"/>
                  <a:pt x="17200" y="13922"/>
                </a:cubicBezTo>
                <a:cubicBezTo>
                  <a:pt x="17024" y="13910"/>
                  <a:pt x="16879" y="13909"/>
                  <a:pt x="16758" y="13917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0" name="Agile"/>
          <p:cNvSpPr txBox="1"/>
          <p:nvPr/>
        </p:nvSpPr>
        <p:spPr>
          <a:xfrm>
            <a:off x="1585431" y="6987433"/>
            <a:ext cx="11558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Agile</a:t>
            </a:r>
          </a:p>
        </p:txBody>
      </p:sp>
      <p:sp>
        <p:nvSpPr>
          <p:cNvPr id="311" name="Pipelined"/>
          <p:cNvSpPr txBox="1"/>
          <p:nvPr/>
        </p:nvSpPr>
        <p:spPr>
          <a:xfrm>
            <a:off x="3715639" y="6987433"/>
            <a:ext cx="201945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Pipelined</a:t>
            </a:r>
          </a:p>
        </p:txBody>
      </p:sp>
      <p:sp>
        <p:nvSpPr>
          <p:cNvPr id="312" name="Business…"/>
          <p:cNvSpPr txBox="1"/>
          <p:nvPr/>
        </p:nvSpPr>
        <p:spPr>
          <a:xfrm>
            <a:off x="6590227" y="6714383"/>
            <a:ext cx="2223364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Business </a:t>
            </a:r>
          </a:p>
          <a:p>
            <a: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Centered</a:t>
            </a:r>
          </a:p>
        </p:txBody>
      </p:sp>
      <p:sp>
        <p:nvSpPr>
          <p:cNvPr id="313" name="High…"/>
          <p:cNvSpPr txBox="1"/>
          <p:nvPr/>
        </p:nvSpPr>
        <p:spPr>
          <a:xfrm>
            <a:off x="9649207" y="6714383"/>
            <a:ext cx="1460755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High </a:t>
            </a:r>
          </a:p>
          <a:p>
            <a:pPr defTabSz="584200">
              <a:defRPr sz="36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quality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7315200" y="4673600"/>
            <a:ext cx="4991100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droppedImage.pdf" descr="dropped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22900" y="3568700"/>
            <a:ext cx="4991101" cy="152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droppedImage.pdf" descr="dropped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600" y="2514600"/>
            <a:ext cx="4991101" cy="1524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0" name="Agrupar"/>
          <p:cNvGrpSpPr/>
          <p:nvPr/>
        </p:nvGrpSpPr>
        <p:grpSpPr>
          <a:xfrm>
            <a:off x="2476500" y="2908300"/>
            <a:ext cx="1727200" cy="1206500"/>
            <a:chOff x="0" y="0"/>
            <a:chExt cx="1727200" cy="1206500"/>
          </a:xfrm>
        </p:grpSpPr>
        <p:pic>
          <p:nvPicPr>
            <p:cNvPr id="318" name="droppedImage.pdf" descr="droppedImage.pdf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1727200" cy="800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9" name="Mesas de trabajo"/>
            <p:cNvSpPr txBox="1"/>
            <p:nvPr/>
          </p:nvSpPr>
          <p:spPr>
            <a:xfrm>
              <a:off x="17809" y="838200"/>
              <a:ext cx="1681127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Mesas de trabajo</a:t>
              </a:r>
            </a:p>
          </p:txBody>
        </p:sp>
      </p:grpSp>
      <p:grpSp>
        <p:nvGrpSpPr>
          <p:cNvPr id="323" name="Agrupar"/>
          <p:cNvGrpSpPr/>
          <p:nvPr/>
        </p:nvGrpSpPr>
        <p:grpSpPr>
          <a:xfrm>
            <a:off x="5092700" y="2755900"/>
            <a:ext cx="1181100" cy="1320800"/>
            <a:chOff x="0" y="0"/>
            <a:chExt cx="1181100" cy="1320800"/>
          </a:xfrm>
        </p:grpSpPr>
        <p:pic>
          <p:nvPicPr>
            <p:cNvPr id="321" name="droppedImage.pdf" descr="droppedImage.pdf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1181100" cy="1092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2" name="Entrevistas"/>
            <p:cNvSpPr txBox="1"/>
            <p:nvPr/>
          </p:nvSpPr>
          <p:spPr>
            <a:xfrm>
              <a:off x="43836" y="952500"/>
              <a:ext cx="1110854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Entrevistas</a:t>
              </a:r>
            </a:p>
          </p:txBody>
        </p:sp>
      </p:grpSp>
      <p:grpSp>
        <p:nvGrpSpPr>
          <p:cNvPr id="326" name="Agrupar"/>
          <p:cNvGrpSpPr/>
          <p:nvPr/>
        </p:nvGrpSpPr>
        <p:grpSpPr>
          <a:xfrm>
            <a:off x="7175500" y="2641600"/>
            <a:ext cx="1574800" cy="1536700"/>
            <a:chOff x="0" y="0"/>
            <a:chExt cx="1574800" cy="1536700"/>
          </a:xfrm>
        </p:grpSpPr>
        <p:pic>
          <p:nvPicPr>
            <p:cNvPr id="324" name="droppedImage.pdf" descr="droppedImage.pdf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1574800" cy="1295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5" name="Observación"/>
            <p:cNvSpPr txBox="1"/>
            <p:nvPr/>
          </p:nvSpPr>
          <p:spPr>
            <a:xfrm>
              <a:off x="134056" y="1168400"/>
              <a:ext cx="1299941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Observación</a:t>
              </a:r>
            </a:p>
          </p:txBody>
        </p:sp>
      </p:grpSp>
      <p:grpSp>
        <p:nvGrpSpPr>
          <p:cNvPr id="329" name="Agrupar"/>
          <p:cNvGrpSpPr/>
          <p:nvPr/>
        </p:nvGrpSpPr>
        <p:grpSpPr>
          <a:xfrm>
            <a:off x="9258300" y="2705100"/>
            <a:ext cx="1765300" cy="1422400"/>
            <a:chOff x="0" y="0"/>
            <a:chExt cx="1765300" cy="1422400"/>
          </a:xfrm>
        </p:grpSpPr>
        <p:pic>
          <p:nvPicPr>
            <p:cNvPr id="327" name="droppedImage.pdf" descr="droppedImage.pdf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1765300" cy="1041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8" name="Sistemas actuales"/>
            <p:cNvSpPr txBox="1"/>
            <p:nvPr/>
          </p:nvSpPr>
          <p:spPr>
            <a:xfrm>
              <a:off x="40661" y="1054100"/>
              <a:ext cx="1701218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Sistemas actuales</a:t>
              </a:r>
            </a:p>
          </p:txBody>
        </p:sp>
      </p:grpSp>
      <p:grpSp>
        <p:nvGrpSpPr>
          <p:cNvPr id="332" name="Agrupar"/>
          <p:cNvGrpSpPr/>
          <p:nvPr/>
        </p:nvGrpSpPr>
        <p:grpSpPr>
          <a:xfrm>
            <a:off x="2540000" y="2908300"/>
            <a:ext cx="1511300" cy="1358900"/>
            <a:chOff x="0" y="0"/>
            <a:chExt cx="1511300" cy="1358900"/>
          </a:xfrm>
        </p:grpSpPr>
        <p:pic>
          <p:nvPicPr>
            <p:cNvPr id="330" name="droppedImage.pdf" descr="droppedImage.pdf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1511300" cy="1143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1" name="Verificación"/>
            <p:cNvSpPr txBox="1"/>
            <p:nvPr/>
          </p:nvSpPr>
          <p:spPr>
            <a:xfrm>
              <a:off x="287517" y="990600"/>
              <a:ext cx="1182291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Verificación</a:t>
              </a:r>
            </a:p>
          </p:txBody>
        </p:sp>
      </p:grpSp>
      <p:grpSp>
        <p:nvGrpSpPr>
          <p:cNvPr id="335" name="Agrupar"/>
          <p:cNvGrpSpPr/>
          <p:nvPr/>
        </p:nvGrpSpPr>
        <p:grpSpPr>
          <a:xfrm>
            <a:off x="5092700" y="2755900"/>
            <a:ext cx="1378205" cy="1422400"/>
            <a:chOff x="0" y="0"/>
            <a:chExt cx="1378204" cy="1422400"/>
          </a:xfrm>
        </p:grpSpPr>
        <p:pic>
          <p:nvPicPr>
            <p:cNvPr id="333" name="droppedImage.pdf" descr="droppedImage.pdf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0" y="0"/>
              <a:ext cx="1371600" cy="1143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4" name="Clasificación"/>
            <p:cNvSpPr txBox="1"/>
            <p:nvPr/>
          </p:nvSpPr>
          <p:spPr>
            <a:xfrm>
              <a:off x="113648" y="1054100"/>
              <a:ext cx="1264557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Clasificación</a:t>
              </a:r>
            </a:p>
          </p:txBody>
        </p:sp>
      </p:grpSp>
      <p:grpSp>
        <p:nvGrpSpPr>
          <p:cNvPr id="338" name="Agrupar"/>
          <p:cNvGrpSpPr/>
          <p:nvPr/>
        </p:nvGrpSpPr>
        <p:grpSpPr>
          <a:xfrm>
            <a:off x="7188200" y="2895600"/>
            <a:ext cx="1460500" cy="1308100"/>
            <a:chOff x="0" y="0"/>
            <a:chExt cx="1460500" cy="1308100"/>
          </a:xfrm>
        </p:grpSpPr>
        <p:pic>
          <p:nvPicPr>
            <p:cNvPr id="336" name="droppedImage.pdf" descr="droppedImage.pdf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0" y="0"/>
              <a:ext cx="1460500" cy="10287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7" name="Análisis"/>
            <p:cNvSpPr txBox="1"/>
            <p:nvPr/>
          </p:nvSpPr>
          <p:spPr>
            <a:xfrm>
              <a:off x="508576" y="939800"/>
              <a:ext cx="804901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Análisis</a:t>
              </a:r>
            </a:p>
          </p:txBody>
        </p:sp>
      </p:grpSp>
      <p:grpSp>
        <p:nvGrpSpPr>
          <p:cNvPr id="341" name="Agrupar"/>
          <p:cNvGrpSpPr/>
          <p:nvPr/>
        </p:nvGrpSpPr>
        <p:grpSpPr>
          <a:xfrm>
            <a:off x="9437470" y="2755900"/>
            <a:ext cx="1590713" cy="1435100"/>
            <a:chOff x="0" y="0"/>
            <a:chExt cx="1590712" cy="1435100"/>
          </a:xfrm>
        </p:grpSpPr>
        <p:pic>
          <p:nvPicPr>
            <p:cNvPr id="339" name="droppedImage.pdf" descr="droppedImage.pdf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36729" y="0"/>
              <a:ext cx="1371601" cy="1130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0" name="Documentación"/>
            <p:cNvSpPr txBox="1"/>
            <p:nvPr/>
          </p:nvSpPr>
          <p:spPr>
            <a:xfrm>
              <a:off x="0" y="1066800"/>
              <a:ext cx="1590713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Documentación</a:t>
              </a:r>
            </a:p>
          </p:txBody>
        </p:sp>
      </p:grpSp>
      <p:sp>
        <p:nvSpPr>
          <p:cNvPr id="342" name="Toma de Requerimientos"/>
          <p:cNvSpPr/>
          <p:nvPr/>
        </p:nvSpPr>
        <p:spPr>
          <a:xfrm rot="16200000">
            <a:off x="-1155700" y="3238500"/>
            <a:ext cx="5321300" cy="1866900"/>
          </a:xfrm>
          <a:prstGeom prst="rect">
            <a:avLst/>
          </a:prstGeom>
          <a:gradFill>
            <a:gsLst>
              <a:gs pos="0">
                <a:srgbClr val="6EC1EC">
                  <a:alpha val="80000"/>
                </a:srgbClr>
              </a:gs>
              <a:gs pos="100000">
                <a:srgbClr val="61B5E2">
                  <a:alpha val="80000"/>
                </a:srgbClr>
              </a:gs>
            </a:gsLst>
            <a:lin ang="5400000"/>
          </a:gradFill>
          <a:ln w="38100">
            <a:solidFill>
              <a:srgbClr val="008BCF">
                <a:alpha val="8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4800">
                <a:solidFill>
                  <a:srgbClr val="04527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Toma de Requerimientos</a:t>
            </a:r>
          </a:p>
        </p:txBody>
      </p:sp>
      <p:sp>
        <p:nvSpPr>
          <p:cNvPr id="343" name="Análisis"/>
          <p:cNvSpPr/>
          <p:nvPr/>
        </p:nvSpPr>
        <p:spPr>
          <a:xfrm rot="16200000">
            <a:off x="558800" y="3594100"/>
            <a:ext cx="5321300" cy="1866900"/>
          </a:xfrm>
          <a:prstGeom prst="rect">
            <a:avLst/>
          </a:prstGeom>
          <a:gradFill>
            <a:gsLst>
              <a:gs pos="0">
                <a:srgbClr val="E7CE63">
                  <a:alpha val="80000"/>
                </a:srgbClr>
              </a:gs>
              <a:gs pos="100000">
                <a:srgbClr val="CAAB3B">
                  <a:alpha val="80000"/>
                </a:srgbClr>
              </a:gs>
            </a:gsLst>
            <a:lin ang="5400000"/>
          </a:gradFill>
          <a:ln w="38100">
            <a:solidFill>
              <a:srgbClr val="AC9539">
                <a:alpha val="8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4800">
                <a:solidFill>
                  <a:srgbClr val="947E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Análisis</a:t>
            </a:r>
          </a:p>
        </p:txBody>
      </p:sp>
      <p:grpSp>
        <p:nvGrpSpPr>
          <p:cNvPr id="348" name="Agrupar"/>
          <p:cNvGrpSpPr/>
          <p:nvPr/>
        </p:nvGrpSpPr>
        <p:grpSpPr>
          <a:xfrm>
            <a:off x="263977" y="6375400"/>
            <a:ext cx="2235201" cy="1917700"/>
            <a:chOff x="0" y="0"/>
            <a:chExt cx="2235200" cy="1917700"/>
          </a:xfrm>
        </p:grpSpPr>
        <p:pic>
          <p:nvPicPr>
            <p:cNvPr id="344" name="droppedImage.pdf" descr="droppedImage.pdf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764722" y="0"/>
              <a:ext cx="698501" cy="88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5" name="droppedImage.pdf" descr="droppedImage.pdf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891722" y="127000"/>
              <a:ext cx="698501" cy="88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6" name="droppedImage.pdf" descr="droppedImage.pdf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018722" y="254000"/>
              <a:ext cx="698501" cy="88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7" name="datos, procesos, formatos, reglamentos, etc."/>
            <p:cNvSpPr txBox="1"/>
            <p:nvPr/>
          </p:nvSpPr>
          <p:spPr>
            <a:xfrm>
              <a:off x="0" y="1016000"/>
              <a:ext cx="2235200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datos, procesos, formatos, reglamentos, etc.</a:t>
              </a:r>
            </a:p>
          </p:txBody>
        </p:sp>
      </p:grpSp>
      <p:grpSp>
        <p:nvGrpSpPr>
          <p:cNvPr id="354" name="Agrupar"/>
          <p:cNvGrpSpPr/>
          <p:nvPr/>
        </p:nvGrpSpPr>
        <p:grpSpPr>
          <a:xfrm>
            <a:off x="4152899" y="4064000"/>
            <a:ext cx="6072826" cy="1612900"/>
            <a:chOff x="0" y="0"/>
            <a:chExt cx="6072824" cy="1612899"/>
          </a:xfrm>
        </p:grpSpPr>
        <p:pic>
          <p:nvPicPr>
            <p:cNvPr id="349" name="droppedImage.pdf" descr="droppedImage.pdf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89000" y="506652"/>
              <a:ext cx="4000500" cy="1106248"/>
            </a:xfrm>
            <a:prstGeom prst="rect">
              <a:avLst/>
            </a:prstGeom>
            <a:ln w="25400" cap="flat">
              <a:solidFill>
                <a:srgbClr val="B86422"/>
              </a:solidFill>
              <a:prstDash val="solid"/>
              <a:miter lim="400000"/>
            </a:ln>
            <a:effectLst/>
          </p:spPr>
        </p:pic>
        <p:sp>
          <p:nvSpPr>
            <p:cNvPr id="350" name="Línea"/>
            <p:cNvSpPr/>
            <p:nvPr/>
          </p:nvSpPr>
          <p:spPr>
            <a:xfrm flipH="1" flipV="1">
              <a:off x="0" y="0"/>
              <a:ext cx="778503" cy="482217"/>
            </a:xfrm>
            <a:prstGeom prst="line">
              <a:avLst/>
            </a:prstGeom>
            <a:noFill/>
            <a:ln w="38100" cap="flat">
              <a:solidFill>
                <a:srgbClr val="B86422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1" name="Línea"/>
            <p:cNvSpPr/>
            <p:nvPr/>
          </p:nvSpPr>
          <p:spPr>
            <a:xfrm flipH="1" flipV="1">
              <a:off x="1760305" y="62932"/>
              <a:ext cx="114058" cy="388950"/>
            </a:xfrm>
            <a:prstGeom prst="line">
              <a:avLst/>
            </a:prstGeom>
            <a:noFill/>
            <a:ln w="38100" cap="flat">
              <a:solidFill>
                <a:srgbClr val="B86422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2" name="Línea"/>
            <p:cNvSpPr/>
            <p:nvPr/>
          </p:nvSpPr>
          <p:spPr>
            <a:xfrm flipV="1">
              <a:off x="3712323" y="108131"/>
              <a:ext cx="138387" cy="320090"/>
            </a:xfrm>
            <a:prstGeom prst="line">
              <a:avLst/>
            </a:prstGeom>
            <a:noFill/>
            <a:ln w="38100" cap="flat">
              <a:solidFill>
                <a:srgbClr val="B86422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3" name="Línea"/>
            <p:cNvSpPr/>
            <p:nvPr/>
          </p:nvSpPr>
          <p:spPr>
            <a:xfrm flipV="1">
              <a:off x="4988431" y="89263"/>
              <a:ext cx="1084394" cy="981077"/>
            </a:xfrm>
            <a:prstGeom prst="line">
              <a:avLst/>
            </a:prstGeom>
            <a:noFill/>
            <a:ln w="38100" cap="flat">
              <a:solidFill>
                <a:srgbClr val="B86422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355" name="droppedImage.pdf" descr="droppedImage.pdf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 rot="19101987">
            <a:off x="6184900" y="4521200"/>
            <a:ext cx="2760898" cy="11303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8" name="Agrupar"/>
          <p:cNvGrpSpPr/>
          <p:nvPr/>
        </p:nvGrpSpPr>
        <p:grpSpPr>
          <a:xfrm>
            <a:off x="4406900" y="3022600"/>
            <a:ext cx="1708039" cy="1181100"/>
            <a:chOff x="0" y="0"/>
            <a:chExt cx="1708038" cy="1181100"/>
          </a:xfrm>
        </p:grpSpPr>
        <p:pic>
          <p:nvPicPr>
            <p:cNvPr id="356" name="droppedImage.pdf" descr="droppedImage.pdf"/>
            <p:cNvPicPr>
              <a:picLocks noChangeAspect="1"/>
            </p:cNvPicPr>
            <p:nvPr/>
          </p:nvPicPr>
          <p:blipFill>
            <a:blip r:embed="rId17">
              <a:extLst/>
            </a:blip>
            <a:stretch>
              <a:fillRect/>
            </a:stretch>
          </p:blipFill>
          <p:spPr>
            <a:xfrm>
              <a:off x="0" y="0"/>
              <a:ext cx="1587500" cy="88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7" name="Mesas de trabajo"/>
            <p:cNvSpPr txBox="1"/>
            <p:nvPr/>
          </p:nvSpPr>
          <p:spPr>
            <a:xfrm>
              <a:off x="26913" y="812800"/>
              <a:ext cx="1681126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Mesas de trabajo</a:t>
              </a:r>
            </a:p>
          </p:txBody>
        </p:sp>
      </p:grpSp>
      <p:grpSp>
        <p:nvGrpSpPr>
          <p:cNvPr id="361" name="Agrupar"/>
          <p:cNvGrpSpPr/>
          <p:nvPr/>
        </p:nvGrpSpPr>
        <p:grpSpPr>
          <a:xfrm>
            <a:off x="9700511" y="4927600"/>
            <a:ext cx="1637929" cy="1397000"/>
            <a:chOff x="0" y="0"/>
            <a:chExt cx="1637927" cy="1397000"/>
          </a:xfrm>
        </p:grpSpPr>
        <p:pic>
          <p:nvPicPr>
            <p:cNvPr id="359" name="droppedImage.pdf" descr="droppedImage.pdf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>
              <a:off x="2288" y="0"/>
              <a:ext cx="1358901" cy="1003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0" name="Demostraciones"/>
            <p:cNvSpPr txBox="1"/>
            <p:nvPr/>
          </p:nvSpPr>
          <p:spPr>
            <a:xfrm>
              <a:off x="0" y="1028700"/>
              <a:ext cx="1637928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Demostraciones</a:t>
              </a:r>
            </a:p>
          </p:txBody>
        </p:sp>
      </p:grpSp>
      <p:grpSp>
        <p:nvGrpSpPr>
          <p:cNvPr id="364" name="Agrupar"/>
          <p:cNvGrpSpPr/>
          <p:nvPr/>
        </p:nvGrpSpPr>
        <p:grpSpPr>
          <a:xfrm>
            <a:off x="9281746" y="2806700"/>
            <a:ext cx="2094459" cy="1384300"/>
            <a:chOff x="0" y="0"/>
            <a:chExt cx="2094458" cy="1384300"/>
          </a:xfrm>
        </p:grpSpPr>
        <p:pic>
          <p:nvPicPr>
            <p:cNvPr id="362" name="droppedImage.pdf" descr="droppedImage.pdf"/>
            <p:cNvPicPr>
              <a:picLocks noChangeAspect="1"/>
            </p:cNvPicPr>
            <p:nvPr/>
          </p:nvPicPr>
          <p:blipFill>
            <a:blip r:embed="rId19">
              <a:extLst/>
            </a:blip>
            <a:stretch>
              <a:fillRect/>
            </a:stretch>
          </p:blipFill>
          <p:spPr>
            <a:xfrm>
              <a:off x="243253" y="0"/>
              <a:ext cx="1422401" cy="952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3" name="Prueba de Prototipos"/>
            <p:cNvSpPr txBox="1"/>
            <p:nvPr/>
          </p:nvSpPr>
          <p:spPr>
            <a:xfrm>
              <a:off x="0" y="1016000"/>
              <a:ext cx="2094459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Prueba de Prototipos</a:t>
              </a:r>
            </a:p>
          </p:txBody>
        </p:sp>
      </p:grpSp>
      <p:grpSp>
        <p:nvGrpSpPr>
          <p:cNvPr id="367" name="Agrupar"/>
          <p:cNvGrpSpPr/>
          <p:nvPr/>
        </p:nvGrpSpPr>
        <p:grpSpPr>
          <a:xfrm>
            <a:off x="7162800" y="2908300"/>
            <a:ext cx="1018934" cy="1079500"/>
            <a:chOff x="0" y="0"/>
            <a:chExt cx="1018933" cy="1079500"/>
          </a:xfrm>
        </p:grpSpPr>
        <p:pic>
          <p:nvPicPr>
            <p:cNvPr id="365" name="droppedImage.pdf" descr="droppedImage.pdf"/>
            <p:cNvPicPr>
              <a:picLocks noChangeAspect="1"/>
            </p:cNvPicPr>
            <p:nvPr/>
          </p:nvPicPr>
          <p:blipFill>
            <a:blip r:embed="rId20">
              <a:extLst/>
            </a:blip>
            <a:stretch>
              <a:fillRect/>
            </a:stretch>
          </p:blipFill>
          <p:spPr>
            <a:xfrm>
              <a:off x="0" y="0"/>
              <a:ext cx="1003300" cy="85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6" name="Diseños"/>
            <p:cNvSpPr txBox="1"/>
            <p:nvPr/>
          </p:nvSpPr>
          <p:spPr>
            <a:xfrm>
              <a:off x="157218" y="711200"/>
              <a:ext cx="861716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Diseños</a:t>
              </a:r>
            </a:p>
          </p:txBody>
        </p:sp>
      </p:grpSp>
      <p:sp>
        <p:nvSpPr>
          <p:cNvPr id="368" name="Verificación"/>
          <p:cNvSpPr/>
          <p:nvPr/>
        </p:nvSpPr>
        <p:spPr>
          <a:xfrm rot="16200000">
            <a:off x="2209800" y="3937000"/>
            <a:ext cx="5321300" cy="1866900"/>
          </a:xfrm>
          <a:prstGeom prst="rect">
            <a:avLst/>
          </a:prstGeom>
          <a:gradFill>
            <a:gsLst>
              <a:gs pos="0">
                <a:srgbClr val="F6B65E">
                  <a:alpha val="80000"/>
                </a:srgbClr>
              </a:gs>
              <a:gs pos="100000">
                <a:srgbClr val="E17A2A">
                  <a:alpha val="80000"/>
                </a:srgbClr>
              </a:gs>
            </a:gsLst>
            <a:lin ang="5400000"/>
          </a:gradFill>
          <a:ln w="38100">
            <a:solidFill>
              <a:srgbClr val="C26B25">
                <a:alpha val="8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4800">
                <a:solidFill>
                  <a:srgbClr val="85471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Verificación</a:t>
            </a:r>
          </a:p>
        </p:txBody>
      </p:sp>
      <p:grpSp>
        <p:nvGrpSpPr>
          <p:cNvPr id="371" name="Agrupar"/>
          <p:cNvGrpSpPr/>
          <p:nvPr/>
        </p:nvGrpSpPr>
        <p:grpSpPr>
          <a:xfrm>
            <a:off x="6080286" y="3238500"/>
            <a:ext cx="2101156" cy="1270000"/>
            <a:chOff x="0" y="0"/>
            <a:chExt cx="2101155" cy="1270000"/>
          </a:xfrm>
        </p:grpSpPr>
        <p:pic>
          <p:nvPicPr>
            <p:cNvPr id="369" name="droppedImage.pdf" descr="droppedImage.pdf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536413" y="0"/>
              <a:ext cx="1358901" cy="9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0" name="Especificación Formal"/>
            <p:cNvSpPr txBox="1"/>
            <p:nvPr/>
          </p:nvSpPr>
          <p:spPr>
            <a:xfrm>
              <a:off x="0" y="901700"/>
              <a:ext cx="2101156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Especificación Formal</a:t>
              </a:r>
            </a:p>
          </p:txBody>
        </p:sp>
      </p:grpSp>
      <p:sp>
        <p:nvSpPr>
          <p:cNvPr id="372" name="Especificación del Diseño"/>
          <p:cNvSpPr/>
          <p:nvPr/>
        </p:nvSpPr>
        <p:spPr>
          <a:xfrm rot="16200000">
            <a:off x="3987800" y="4152900"/>
            <a:ext cx="5207000" cy="2057400"/>
          </a:xfrm>
          <a:prstGeom prst="rect">
            <a:avLst/>
          </a:prstGeom>
          <a:gradFill>
            <a:gsLst>
              <a:gs pos="0">
                <a:srgbClr val="ADF17D">
                  <a:alpha val="80000"/>
                </a:srgbClr>
              </a:gs>
              <a:gs pos="100000">
                <a:srgbClr val="5EC33D">
                  <a:alpha val="80000"/>
                </a:srgbClr>
              </a:gs>
            </a:gsLst>
            <a:lin ang="5400000"/>
          </a:gradFill>
          <a:ln w="38100">
            <a:solidFill>
              <a:srgbClr val="5CA532">
                <a:alpha val="8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4800">
                <a:solidFill>
                  <a:srgbClr val="4175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Especificación del Diseño</a:t>
            </a:r>
          </a:p>
        </p:txBody>
      </p:sp>
      <p:grpSp>
        <p:nvGrpSpPr>
          <p:cNvPr id="400" name="Agrupar"/>
          <p:cNvGrpSpPr/>
          <p:nvPr/>
        </p:nvGrpSpPr>
        <p:grpSpPr>
          <a:xfrm>
            <a:off x="2553475" y="5689600"/>
            <a:ext cx="4555785" cy="3517900"/>
            <a:chOff x="0" y="0"/>
            <a:chExt cx="4555783" cy="3517900"/>
          </a:xfrm>
        </p:grpSpPr>
        <p:grpSp>
          <p:nvGrpSpPr>
            <p:cNvPr id="375" name="Agrupar"/>
            <p:cNvGrpSpPr/>
            <p:nvPr/>
          </p:nvGrpSpPr>
          <p:grpSpPr>
            <a:xfrm>
              <a:off x="63847" y="76200"/>
              <a:ext cx="953468" cy="1168400"/>
              <a:chOff x="0" y="0"/>
              <a:chExt cx="953467" cy="1168400"/>
            </a:xfrm>
          </p:grpSpPr>
          <p:pic>
            <p:nvPicPr>
              <p:cNvPr id="373" name="droppedImage.pdf" descr="droppedImage.pdf"/>
              <p:cNvPicPr>
                <a:picLocks noChangeAspect="1"/>
              </p:cNvPicPr>
              <p:nvPr/>
            </p:nvPicPr>
            <p:blipFill>
              <a:blip r:embed="rId22">
                <a:extLst/>
              </a:blip>
              <a:stretch>
                <a:fillRect/>
              </a:stretch>
            </p:blipFill>
            <p:spPr>
              <a:xfrm>
                <a:off x="151277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74" name="Procesos"/>
              <p:cNvSpPr txBox="1"/>
              <p:nvPr/>
            </p:nvSpPr>
            <p:spPr>
              <a:xfrm>
                <a:off x="0" y="800100"/>
                <a:ext cx="953468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Procesos</a:t>
                </a:r>
              </a:p>
            </p:txBody>
          </p:sp>
        </p:grpSp>
        <p:grpSp>
          <p:nvGrpSpPr>
            <p:cNvPr id="378" name="Agrupar"/>
            <p:cNvGrpSpPr/>
            <p:nvPr/>
          </p:nvGrpSpPr>
          <p:grpSpPr>
            <a:xfrm>
              <a:off x="77824" y="1206500"/>
              <a:ext cx="900114" cy="1130300"/>
              <a:chOff x="0" y="0"/>
              <a:chExt cx="900112" cy="1130300"/>
            </a:xfrm>
          </p:grpSpPr>
          <p:pic>
            <p:nvPicPr>
              <p:cNvPr id="376" name="droppedImage.pdf" descr="droppedImage.pdf"/>
              <p:cNvPicPr>
                <a:picLocks noChangeAspect="1"/>
              </p:cNvPicPr>
              <p:nvPr/>
            </p:nvPicPr>
            <p:blipFill>
              <a:blip r:embed="rId23">
                <a:extLst/>
              </a:blip>
              <a:stretch>
                <a:fillRect/>
              </a:stretch>
            </p:blipFill>
            <p:spPr>
              <a:xfrm>
                <a:off x="137300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77" name="Negocio"/>
              <p:cNvSpPr txBox="1"/>
              <p:nvPr/>
            </p:nvSpPr>
            <p:spPr>
              <a:xfrm>
                <a:off x="0" y="762000"/>
                <a:ext cx="900113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Negocio</a:t>
                </a:r>
              </a:p>
            </p:txBody>
          </p:sp>
        </p:grpSp>
        <p:grpSp>
          <p:nvGrpSpPr>
            <p:cNvPr id="381" name="Agrupar"/>
            <p:cNvGrpSpPr/>
            <p:nvPr/>
          </p:nvGrpSpPr>
          <p:grpSpPr>
            <a:xfrm>
              <a:off x="0" y="2311400"/>
              <a:ext cx="852562" cy="1206500"/>
              <a:chOff x="0" y="0"/>
              <a:chExt cx="852561" cy="1206500"/>
            </a:xfrm>
          </p:grpSpPr>
          <p:pic>
            <p:nvPicPr>
              <p:cNvPr id="379" name="droppedImage.pdf" descr="droppedImage.pdf"/>
              <p:cNvPicPr>
                <a:picLocks noChangeAspect="1"/>
              </p:cNvPicPr>
              <p:nvPr/>
            </p:nvPicPr>
            <p:blipFill>
              <a:blip r:embed="rId24">
                <a:extLst/>
              </a:blip>
              <a:stretch>
                <a:fillRect/>
              </a:stretch>
            </p:blipFill>
            <p:spPr>
              <a:xfrm>
                <a:off x="151624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0" name="Actores"/>
              <p:cNvSpPr txBox="1"/>
              <p:nvPr/>
            </p:nvSpPr>
            <p:spPr>
              <a:xfrm>
                <a:off x="0" y="838200"/>
                <a:ext cx="85256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Actores</a:t>
                </a:r>
              </a:p>
            </p:txBody>
          </p:sp>
        </p:grpSp>
        <p:grpSp>
          <p:nvGrpSpPr>
            <p:cNvPr id="384" name="Agrupar"/>
            <p:cNvGrpSpPr/>
            <p:nvPr/>
          </p:nvGrpSpPr>
          <p:grpSpPr>
            <a:xfrm>
              <a:off x="1413005" y="1244600"/>
              <a:ext cx="1404752" cy="1206500"/>
              <a:chOff x="0" y="0"/>
              <a:chExt cx="1404751" cy="1206500"/>
            </a:xfrm>
          </p:grpSpPr>
          <p:pic>
            <p:nvPicPr>
              <p:cNvPr id="382" name="droppedImage.pdf" descr="droppedImage.pdf"/>
              <p:cNvPicPr>
                <a:picLocks noChangeAspect="1"/>
              </p:cNvPicPr>
              <p:nvPr/>
            </p:nvPicPr>
            <p:blipFill>
              <a:blip r:embed="rId25">
                <a:extLst/>
              </a:blip>
              <a:stretch>
                <a:fillRect/>
              </a:stretch>
            </p:blipFill>
            <p:spPr>
              <a:xfrm>
                <a:off x="27531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3" name="Casos de Uso"/>
              <p:cNvSpPr txBox="1"/>
              <p:nvPr/>
            </p:nvSpPr>
            <p:spPr>
              <a:xfrm>
                <a:off x="0" y="838200"/>
                <a:ext cx="140475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Casos de Uso</a:t>
                </a:r>
              </a:p>
            </p:txBody>
          </p:sp>
        </p:grpSp>
        <p:sp>
          <p:nvSpPr>
            <p:cNvPr id="385" name="Línea"/>
            <p:cNvSpPr/>
            <p:nvPr/>
          </p:nvSpPr>
          <p:spPr>
            <a:xfrm flipH="1" flipV="1">
              <a:off x="917264" y="587678"/>
              <a:ext cx="687318" cy="77377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6" name="Línea"/>
            <p:cNvSpPr/>
            <p:nvPr/>
          </p:nvSpPr>
          <p:spPr>
            <a:xfrm flipH="1" flipV="1">
              <a:off x="917204" y="1701751"/>
              <a:ext cx="708309" cy="138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7" name="Línea"/>
            <p:cNvSpPr/>
            <p:nvPr/>
          </p:nvSpPr>
          <p:spPr>
            <a:xfrm flipH="1">
              <a:off x="874675" y="2012363"/>
              <a:ext cx="723173" cy="6597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390" name="Agrupar"/>
            <p:cNvGrpSpPr/>
            <p:nvPr/>
          </p:nvGrpSpPr>
          <p:grpSpPr>
            <a:xfrm>
              <a:off x="2848805" y="0"/>
              <a:ext cx="1014191" cy="1003300"/>
              <a:chOff x="0" y="0"/>
              <a:chExt cx="1014189" cy="1003300"/>
            </a:xfrm>
          </p:grpSpPr>
          <p:pic>
            <p:nvPicPr>
              <p:cNvPr id="388" name="droppedImage.pdf" descr="droppedImage.pdf"/>
              <p:cNvPicPr>
                <a:picLocks noChangeAspect="1"/>
              </p:cNvPicPr>
              <p:nvPr/>
            </p:nvPicPr>
            <p:blipFill>
              <a:blip r:embed="rId26">
                <a:extLst/>
              </a:blip>
              <a:stretch>
                <a:fillRect/>
              </a:stretch>
            </p:blipFill>
            <p:spPr>
              <a:xfrm>
                <a:off x="134918" y="0"/>
                <a:ext cx="825501" cy="6985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9" name="Interfaces"/>
              <p:cNvSpPr txBox="1"/>
              <p:nvPr/>
            </p:nvSpPr>
            <p:spPr>
              <a:xfrm>
                <a:off x="0" y="635000"/>
                <a:ext cx="1014190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Interfaces</a:t>
                </a:r>
              </a:p>
            </p:txBody>
          </p:sp>
        </p:grpSp>
        <p:grpSp>
          <p:nvGrpSpPr>
            <p:cNvPr id="393" name="Agrupar"/>
            <p:cNvGrpSpPr/>
            <p:nvPr/>
          </p:nvGrpSpPr>
          <p:grpSpPr>
            <a:xfrm>
              <a:off x="2847664" y="914400"/>
              <a:ext cx="970993" cy="1168400"/>
              <a:chOff x="0" y="0"/>
              <a:chExt cx="970991" cy="1168400"/>
            </a:xfrm>
          </p:grpSpPr>
          <p:pic>
            <p:nvPicPr>
              <p:cNvPr id="391" name="droppedImage.pdf" descr="droppedImage.pdf"/>
              <p:cNvPicPr>
                <a:picLocks noChangeAspect="1"/>
              </p:cNvPicPr>
              <p:nvPr/>
            </p:nvPicPr>
            <p:blipFill>
              <a:blip r:embed="rId27">
                <a:extLst/>
              </a:blip>
              <a:stretch>
                <a:fillRect/>
              </a:stretch>
            </p:blipFill>
            <p:spPr>
              <a:xfrm>
                <a:off x="16145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92" name="Reportes"/>
              <p:cNvSpPr txBox="1"/>
              <p:nvPr/>
            </p:nvSpPr>
            <p:spPr>
              <a:xfrm>
                <a:off x="0" y="800100"/>
                <a:ext cx="97099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Reportes</a:t>
                </a:r>
              </a:p>
            </p:txBody>
          </p:sp>
        </p:grpSp>
        <p:grpSp>
          <p:nvGrpSpPr>
            <p:cNvPr id="396" name="Agrupar"/>
            <p:cNvGrpSpPr/>
            <p:nvPr/>
          </p:nvGrpSpPr>
          <p:grpSpPr>
            <a:xfrm>
              <a:off x="2281057" y="2190236"/>
              <a:ext cx="2274727" cy="1162564"/>
              <a:chOff x="0" y="0"/>
              <a:chExt cx="2274726" cy="1162563"/>
            </a:xfrm>
          </p:grpSpPr>
          <p:pic>
            <p:nvPicPr>
              <p:cNvPr id="394" name="db2001.png" descr="db2001.png"/>
              <p:cNvPicPr>
                <a:picLocks noChangeAspect="1"/>
              </p:cNvPicPr>
              <p:nvPr/>
            </p:nvPicPr>
            <p:blipFill>
              <a:blip r:embed="rId28">
                <a:extLst/>
              </a:blip>
              <a:stretch>
                <a:fillRect/>
              </a:stretch>
            </p:blipFill>
            <p:spPr>
              <a:xfrm>
                <a:off x="728067" y="0"/>
                <a:ext cx="774701" cy="9085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95" name="Modelo de información"/>
              <p:cNvSpPr txBox="1"/>
              <p:nvPr/>
            </p:nvSpPr>
            <p:spPr>
              <a:xfrm>
                <a:off x="0" y="794263"/>
                <a:ext cx="2274727" cy="368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Modelo de información</a:t>
                </a:r>
              </a:p>
            </p:txBody>
          </p:sp>
        </p:grpSp>
        <p:sp>
          <p:nvSpPr>
            <p:cNvPr id="397" name="Línea"/>
            <p:cNvSpPr/>
            <p:nvPr/>
          </p:nvSpPr>
          <p:spPr>
            <a:xfrm flipH="1">
              <a:off x="2314892" y="482114"/>
              <a:ext cx="653221" cy="979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8" name="Línea"/>
            <p:cNvSpPr/>
            <p:nvPr/>
          </p:nvSpPr>
          <p:spPr>
            <a:xfrm flipH="1">
              <a:off x="2424924" y="1643518"/>
              <a:ext cx="586446" cy="748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9" name="Línea"/>
            <p:cNvSpPr/>
            <p:nvPr/>
          </p:nvSpPr>
          <p:spPr>
            <a:xfrm flipH="1" flipV="1">
              <a:off x="2452246" y="1927144"/>
              <a:ext cx="506100" cy="42084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401" name="droppedImage.pdf" descr="droppedImage.pdf"/>
          <p:cNvPicPr>
            <a:picLocks noChangeAspect="1"/>
          </p:cNvPicPr>
          <p:nvPr/>
        </p:nvPicPr>
        <p:blipFill>
          <a:blip r:embed="rId29">
            <a:extLst/>
          </a:blip>
          <a:stretch>
            <a:fillRect/>
          </a:stretch>
        </p:blipFill>
        <p:spPr>
          <a:xfrm>
            <a:off x="927100" y="1447800"/>
            <a:ext cx="4991101" cy="1524001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Análisis y Diseñ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2607">
              <a:defRPr spc="79" sz="3968"/>
            </a:lvl1pPr>
          </a:lstStyle>
          <a:p>
            <a:pPr/>
            <a:r>
              <a:t>Análisis y Diseño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488 -0.213542" origin="layout" pathEditMode="relative">
                                      <p:cBhvr>
                                        <p:cTn id="6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488 -0.105469" origin="layout" pathEditMode="relative">
                                      <p:cBhvr>
                                        <p:cTn id="9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path" nodeType="with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488 -0.326823" origin="layout" pathEditMode="relative">
                                      <p:cBhvr>
                                        <p:cTn id="12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mph" nodeType="afterEffect" presetID="9" grpId="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16" dur="indefinite" fill="hold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mph" nodeType="withEffect" presetID="9" grp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20" dur="indefinite" fill="hold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mph" nodeType="withEffect" presetID="9" grpId="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24" dur="indefinite" fill="hold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path" nodeType="clickEffect" presetSubtype="0" presetID="-1" grpId="1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33931 -0.150480" origin="layout" pathEditMode="relative">
                                      <p:cBhvr>
                                        <p:cTn id="44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path" nodeType="withEffect" presetSubtype="0" presetID="-1" grpId="1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13965 -0.028472" origin="layout" pathEditMode="relative">
                                      <p:cBhvr>
                                        <p:cTn id="47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path" nodeType="withEffect" presetSubtype="0" presetID="-1" grpId="1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488281 0.097565" origin="layout" pathEditMode="relative">
                                      <p:cBhvr>
                                        <p:cTn id="50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path" nodeType="withEffect" presetSubtype="0" presetID="-1" grpId="1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655762 0.242596" origin="layout" pathEditMode="relative">
                                      <p:cBhvr>
                                        <p:cTn id="53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Class="exit" nodeType="afterEffect" presetSubtype="2" presetID="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Class="entr" nodeType="afterEffect" presetSubtype="16" presetID="23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mph" nodeType="afterEffect" presetID="9" grp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0"/>
                                      </p:to>
                                    </p:set>
                                    <p:animEffect filter="image" prLst="opacity: 1.00; ">
                                      <p:cBhvr>
                                        <p:cTn id="71" dur="indefinite" fill="hold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Class="entr" nodeType="afterEffect" presetSubtype="16" presetID="23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Class="path" nodeType="clickEffect" presetSubtype="0" presetID="-1" grpId="2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488 -0.110430" origin="layout" pathEditMode="relative">
                                      <p:cBhvr>
                                        <p:cTn id="96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Class="path" nodeType="withEffect" presetSubtype="0" presetID="-1" grpId="25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87754 0.032774" origin="layout" pathEditMode="relative">
                                      <p:cBhvr>
                                        <p:cTn id="99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path" nodeType="withEffect" presetSubtype="0" presetID="-1" grpId="2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46191 0.166186" origin="layout" pathEditMode="relative">
                                      <p:cBhvr>
                                        <p:cTn id="102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path" nodeType="withEffect" presetSubtype="0" presetID="-1" grpId="2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524155 0.302475" origin="layout" pathEditMode="relative">
                                      <p:cBhvr>
                                        <p:cTn id="105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Class="exit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8" dur="1000" fill="hold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3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Class="exit" nodeType="afterEffect" presetSubtype="2" presetID="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Class="entr" nodeType="afterEffect" presetSubtype="16" presetID="23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Class="emph" nodeType="afterEffect" presetID="9" grpId="3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indefinite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0"/>
                                      </p:to>
                                    </p:set>
                                    <p:animEffect filter="image" prLst="opacity: 1.00; ">
                                      <p:cBhvr>
                                        <p:cTn id="127" dur="indefinite" fill="hold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1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Class="entr" nodeType="afterEffect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5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Class="entr" nodeType="afterEffect" presetID="10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9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0"/>
                            </p:stCondLst>
                            <p:childTnLst>
                              <p:par>
                                <p:cTn id="141" presetClass="entr" nodeType="afterEffect" presetID="10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3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0"/>
                            </p:stCondLst>
                            <p:childTnLst>
                              <p:par>
                                <p:cTn id="145" presetClass="entr" nodeType="afterEffect" presetID="10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7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Class="path" nodeType="clickEffect" presetSubtype="0" presetID="-1" grpId="3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29537 -0.064418" origin="layout" pathEditMode="relative">
                                      <p:cBhvr>
                                        <p:cTn id="151" dur="1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Class="path" nodeType="withEffect" presetSubtype="0" presetID="-1" grpId="3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14957 0.044654" origin="layout" pathEditMode="relative">
                                      <p:cBhvr>
                                        <p:cTn id="154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Class="path" nodeType="withEffect" presetSubtype="0" presetID="-1" grpId="40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419243 0.163411" origin="layout" pathEditMode="relative">
                                      <p:cBhvr>
                                        <p:cTn id="157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Class="path" nodeType="withEffect" presetSubtype="0" presetID="-1" grpId="4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433892 0.090424" origin="layout" pathEditMode="relative">
                                      <p:cBhvr>
                                        <p:cTn id="160" dur="10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Class="exit" nodeType="afterEffect" presetID="10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63" dur="1000" fill="hold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Class="entr" nodeType="afterEffect" presetID="10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8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3000"/>
                            </p:stCondLst>
                            <p:childTnLst>
                              <p:par>
                                <p:cTn id="170" presetClass="exit" nodeType="afterEffect" presetSubtype="2" presetID="2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Class="emph" nodeType="afterEffect" presetID="9" grp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.00"/>
                                      </p:to>
                                    </p:set>
                                    <p:animEffect filter="image" prLst="opacity: 1.00; ">
                                      <p:cBhvr>
                                        <p:cTn id="177" dur="indefinite" fill="hold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presetClass="entr" nodeType="afterEffect" presetID="10" grpId="4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1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Class="path" nodeType="clickEffect" presetSubtype="0" presetID="-1" grpId="4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38560 -0.036458" origin="layout" pathEditMode="relative">
                                      <p:cBhvr>
                                        <p:cTn id="185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Class="entr" nodeType="afterEffect" presetID="10" grpId="4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9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000"/>
                            </p:stCondLst>
                            <p:childTnLst>
                              <p:par>
                                <p:cTn id="191" presetClass="exit" nodeType="afterEffect" presetSubtype="2" presetID="2" grpId="4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8" grpId="33"/>
      <p:bldP build="whole" bldLvl="1" animBg="1" rev="0" advAuto="0" spid="316" grpId="44"/>
      <p:bldP build="whole" bldLvl="1" animBg="1" rev="0" advAuto="0" spid="317" grpId="18"/>
      <p:bldP build="whole" bldLvl="1" animBg="1" rev="0" advAuto="0" spid="323" grpId="8"/>
      <p:bldP build="whole" bldLvl="1" animBg="1" rev="0" advAuto="0" spid="326" grpId="9"/>
      <p:bldP build="whole" bldLvl="1" animBg="1" rev="0" advAuto="0" spid="343" grpId="29"/>
      <p:bldP build="whole" bldLvl="1" animBg="1" rev="0" advAuto="0" spid="317" grpId="30"/>
      <p:bldP build="whole" bldLvl="1" animBg="1" rev="0" advAuto="0" spid="332" grpId="19"/>
      <p:bldP build="whole" bldLvl="1" animBg="1" rev="0" advAuto="0" spid="315" grpId="45"/>
      <p:bldP build="whole" bldLvl="1" animBg="1" rev="0" advAuto="0" spid="342" grpId="15"/>
      <p:bldP build="whole" bldLvl="1" animBg="1" rev="0" advAuto="0" spid="367" grpId="34"/>
      <p:bldP build="whole" bldLvl="1" animBg="1" rev="0" advAuto="0" spid="315" grpId="49"/>
      <p:bldP build="whole" bldLvl="1" animBg="1" rev="0" advAuto="0" spid="320" grpId="7"/>
      <p:bldP build="whole" bldLvl="1" animBg="1" rev="0" advAuto="0" spid="401" grpId="16"/>
      <p:bldP build="whole" bldLvl="1" animBg="1" rev="0" advAuto="0" spid="361" grpId="36"/>
      <p:bldP build="whole" bldLvl="1" animBg="1" rev="0" advAuto="0" spid="368" grpId="43"/>
      <p:bldP build="whole" bldLvl="1" animBg="1" rev="0" advAuto="0" spid="316" grpId="5"/>
      <p:bldP build="whole" bldLvl="1" animBg="1" rev="0" advAuto="0" spid="355" grpId="37"/>
      <p:bldP build="whole" bldLvl="1" animBg="1" rev="0" advAuto="0" spid="338" grpId="21"/>
      <p:bldP build="whole" bldLvl="1" animBg="1" rev="0" advAuto="0" spid="355" grpId="42"/>
      <p:bldP build="whole" bldLvl="1" animBg="1" rev="0" advAuto="0" spid="400" grpId="31"/>
      <p:bldP build="whole" bldLvl="1" animBg="1" rev="0" advAuto="0" spid="329" grpId="10"/>
      <p:bldP build="whole" bldLvl="1" animBg="1" rev="0" advAuto="0" spid="372" grpId="48"/>
      <p:bldP build="whole" bldLvl="1" animBg="1" rev="0" advAuto="0" spid="371" grpId="46"/>
      <p:bldP build="whole" bldLvl="1" animBg="1" rev="0" advAuto="0" spid="315" grpId="6"/>
      <p:bldP build="whole" bldLvl="1" animBg="1" rev="0" advAuto="0" spid="354" grpId="23"/>
      <p:bldP build="whole" bldLvl="1" animBg="1" rev="0" advAuto="0" spid="335" grpId="20"/>
      <p:bldP build="whole" bldLvl="1" animBg="1" rev="0" advAuto="0" spid="341" grpId="22"/>
      <p:bldP build="whole" bldLvl="1" animBg="1" rev="0" advAuto="0" spid="354" grpId="28"/>
      <p:bldP build="whole" bldLvl="1" animBg="1" rev="0" advAuto="0" spid="364" grpId="35"/>
      <p:bldP build="whole" bldLvl="1" animBg="1" rev="0" advAuto="0" spid="348" grpId="17"/>
      <p:bldP build="whole" bldLvl="1" animBg="1" rev="0" advAuto="0" spid="317" grpId="4"/>
      <p:bldP build="whole" bldLvl="1" animBg="1" rev="0" advAuto="0" spid="316" grpId="3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Desarrollo y prueb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pc="79" sz="3959"/>
            </a:lvl1pPr>
          </a:lstStyle>
          <a:p>
            <a:pPr/>
            <a:r>
              <a:t>Desarrollo y pruebas</a:t>
            </a:r>
          </a:p>
        </p:txBody>
      </p:sp>
      <p:grpSp>
        <p:nvGrpSpPr>
          <p:cNvPr id="434" name="Agrupar"/>
          <p:cNvGrpSpPr/>
          <p:nvPr/>
        </p:nvGrpSpPr>
        <p:grpSpPr>
          <a:xfrm>
            <a:off x="2424977" y="3410187"/>
            <a:ext cx="4555785" cy="3517901"/>
            <a:chOff x="0" y="0"/>
            <a:chExt cx="4555783" cy="3517900"/>
          </a:xfrm>
        </p:grpSpPr>
        <p:grpSp>
          <p:nvGrpSpPr>
            <p:cNvPr id="409" name="Agrupar"/>
            <p:cNvGrpSpPr/>
            <p:nvPr/>
          </p:nvGrpSpPr>
          <p:grpSpPr>
            <a:xfrm>
              <a:off x="63847" y="76200"/>
              <a:ext cx="953468" cy="1168400"/>
              <a:chOff x="0" y="0"/>
              <a:chExt cx="953467" cy="1168400"/>
            </a:xfrm>
          </p:grpSpPr>
          <p:pic>
            <p:nvPicPr>
              <p:cNvPr id="407" name="droppedImage.pdf" descr="droppedImage.pdf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151277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8" name="Procesos"/>
              <p:cNvSpPr txBox="1"/>
              <p:nvPr/>
            </p:nvSpPr>
            <p:spPr>
              <a:xfrm>
                <a:off x="0" y="800100"/>
                <a:ext cx="953468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Procesos</a:t>
                </a:r>
              </a:p>
            </p:txBody>
          </p:sp>
        </p:grpSp>
        <p:grpSp>
          <p:nvGrpSpPr>
            <p:cNvPr id="412" name="Agrupar"/>
            <p:cNvGrpSpPr/>
            <p:nvPr/>
          </p:nvGrpSpPr>
          <p:grpSpPr>
            <a:xfrm>
              <a:off x="77824" y="1206500"/>
              <a:ext cx="900114" cy="1130300"/>
              <a:chOff x="0" y="0"/>
              <a:chExt cx="900112" cy="1130300"/>
            </a:xfrm>
          </p:grpSpPr>
          <p:pic>
            <p:nvPicPr>
              <p:cNvPr id="410" name="droppedImage.pdf" descr="droppedImage.pdf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37300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1" name="Negocio"/>
              <p:cNvSpPr txBox="1"/>
              <p:nvPr/>
            </p:nvSpPr>
            <p:spPr>
              <a:xfrm>
                <a:off x="0" y="762000"/>
                <a:ext cx="900113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Negocio</a:t>
                </a:r>
              </a:p>
            </p:txBody>
          </p:sp>
        </p:grpSp>
        <p:grpSp>
          <p:nvGrpSpPr>
            <p:cNvPr id="415" name="Agrupar"/>
            <p:cNvGrpSpPr/>
            <p:nvPr/>
          </p:nvGrpSpPr>
          <p:grpSpPr>
            <a:xfrm>
              <a:off x="0" y="2311400"/>
              <a:ext cx="852562" cy="1206500"/>
              <a:chOff x="0" y="0"/>
              <a:chExt cx="852561" cy="1206500"/>
            </a:xfrm>
          </p:grpSpPr>
          <p:pic>
            <p:nvPicPr>
              <p:cNvPr id="413" name="droppedImage.pdf" descr="droppedImage.pdf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151624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4" name="Actores"/>
              <p:cNvSpPr txBox="1"/>
              <p:nvPr/>
            </p:nvSpPr>
            <p:spPr>
              <a:xfrm>
                <a:off x="0" y="838200"/>
                <a:ext cx="85256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Actores</a:t>
                </a:r>
              </a:p>
            </p:txBody>
          </p:sp>
        </p:grpSp>
        <p:grpSp>
          <p:nvGrpSpPr>
            <p:cNvPr id="418" name="Agrupar"/>
            <p:cNvGrpSpPr/>
            <p:nvPr/>
          </p:nvGrpSpPr>
          <p:grpSpPr>
            <a:xfrm>
              <a:off x="1413005" y="1244600"/>
              <a:ext cx="1404752" cy="1206500"/>
              <a:chOff x="0" y="0"/>
              <a:chExt cx="1404751" cy="1206500"/>
            </a:xfrm>
          </p:grpSpPr>
          <p:pic>
            <p:nvPicPr>
              <p:cNvPr id="416" name="droppedImage.pdf" descr="droppedImage.pdf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531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7" name="Casos de Uso"/>
              <p:cNvSpPr txBox="1"/>
              <p:nvPr/>
            </p:nvSpPr>
            <p:spPr>
              <a:xfrm>
                <a:off x="0" y="838200"/>
                <a:ext cx="140475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Casos de Uso</a:t>
                </a:r>
              </a:p>
            </p:txBody>
          </p:sp>
        </p:grpSp>
        <p:sp>
          <p:nvSpPr>
            <p:cNvPr id="419" name="Línea"/>
            <p:cNvSpPr/>
            <p:nvPr/>
          </p:nvSpPr>
          <p:spPr>
            <a:xfrm flipH="1" flipV="1">
              <a:off x="917264" y="587678"/>
              <a:ext cx="687318" cy="77377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0" name="Línea"/>
            <p:cNvSpPr/>
            <p:nvPr/>
          </p:nvSpPr>
          <p:spPr>
            <a:xfrm flipH="1" flipV="1">
              <a:off x="917204" y="1701751"/>
              <a:ext cx="708309" cy="138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1" name="Línea"/>
            <p:cNvSpPr/>
            <p:nvPr/>
          </p:nvSpPr>
          <p:spPr>
            <a:xfrm flipH="1">
              <a:off x="874675" y="2012363"/>
              <a:ext cx="723173" cy="6597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424" name="Agrupar"/>
            <p:cNvGrpSpPr/>
            <p:nvPr/>
          </p:nvGrpSpPr>
          <p:grpSpPr>
            <a:xfrm>
              <a:off x="2848805" y="0"/>
              <a:ext cx="1014191" cy="1003300"/>
              <a:chOff x="0" y="0"/>
              <a:chExt cx="1014189" cy="1003300"/>
            </a:xfrm>
          </p:grpSpPr>
          <p:pic>
            <p:nvPicPr>
              <p:cNvPr id="422" name="droppedImage.pdf" descr="droppedImage.pdf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18" y="0"/>
                <a:ext cx="825501" cy="6985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23" name="Interfaces"/>
              <p:cNvSpPr txBox="1"/>
              <p:nvPr/>
            </p:nvSpPr>
            <p:spPr>
              <a:xfrm>
                <a:off x="0" y="635000"/>
                <a:ext cx="1014190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Interfaces</a:t>
                </a:r>
              </a:p>
            </p:txBody>
          </p:sp>
        </p:grpSp>
        <p:grpSp>
          <p:nvGrpSpPr>
            <p:cNvPr id="427" name="Agrupar"/>
            <p:cNvGrpSpPr/>
            <p:nvPr/>
          </p:nvGrpSpPr>
          <p:grpSpPr>
            <a:xfrm>
              <a:off x="2847664" y="914400"/>
              <a:ext cx="970993" cy="1168400"/>
              <a:chOff x="0" y="0"/>
              <a:chExt cx="970991" cy="1168400"/>
            </a:xfrm>
          </p:grpSpPr>
          <p:pic>
            <p:nvPicPr>
              <p:cNvPr id="425" name="droppedImage.pdf" descr="droppedImage.pdf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16145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26" name="Reportes"/>
              <p:cNvSpPr txBox="1"/>
              <p:nvPr/>
            </p:nvSpPr>
            <p:spPr>
              <a:xfrm>
                <a:off x="0" y="800100"/>
                <a:ext cx="97099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Reportes</a:t>
                </a:r>
              </a:p>
            </p:txBody>
          </p:sp>
        </p:grpSp>
        <p:grpSp>
          <p:nvGrpSpPr>
            <p:cNvPr id="430" name="Agrupar"/>
            <p:cNvGrpSpPr/>
            <p:nvPr/>
          </p:nvGrpSpPr>
          <p:grpSpPr>
            <a:xfrm>
              <a:off x="2281057" y="2190236"/>
              <a:ext cx="2274727" cy="1162564"/>
              <a:chOff x="0" y="0"/>
              <a:chExt cx="2274726" cy="1162563"/>
            </a:xfrm>
          </p:grpSpPr>
          <p:pic>
            <p:nvPicPr>
              <p:cNvPr id="428" name="db2001.png" descr="db2001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728067" y="0"/>
                <a:ext cx="774701" cy="9085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29" name="Modelo de información"/>
              <p:cNvSpPr txBox="1"/>
              <p:nvPr/>
            </p:nvSpPr>
            <p:spPr>
              <a:xfrm>
                <a:off x="0" y="794263"/>
                <a:ext cx="2274727" cy="368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Modelo de información</a:t>
                </a:r>
              </a:p>
            </p:txBody>
          </p:sp>
        </p:grpSp>
        <p:sp>
          <p:nvSpPr>
            <p:cNvPr id="431" name="Línea"/>
            <p:cNvSpPr/>
            <p:nvPr/>
          </p:nvSpPr>
          <p:spPr>
            <a:xfrm flipH="1">
              <a:off x="2314892" y="482114"/>
              <a:ext cx="653221" cy="979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2" name="Línea"/>
            <p:cNvSpPr/>
            <p:nvPr/>
          </p:nvSpPr>
          <p:spPr>
            <a:xfrm flipH="1">
              <a:off x="2424924" y="1643518"/>
              <a:ext cx="586446" cy="748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3" name="Línea"/>
            <p:cNvSpPr/>
            <p:nvPr/>
          </p:nvSpPr>
          <p:spPr>
            <a:xfrm flipH="1" flipV="1">
              <a:off x="2452246" y="1927144"/>
              <a:ext cx="506100" cy="42084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435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227127" y="3503663"/>
            <a:ext cx="825501" cy="76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4862" y="4593780"/>
            <a:ext cx="674159" cy="62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4862" y="5711380"/>
            <a:ext cx="674159" cy="62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4862" y="6828980"/>
            <a:ext cx="674159" cy="62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9" name="droppedImage.pdf" descr="droppedImage.pdf"/>
          <p:cNvPicPr>
            <a:picLocks noChangeAspect="1"/>
          </p:cNvPicPr>
          <p:nvPr/>
        </p:nvPicPr>
        <p:blipFill>
          <a:blip r:embed="rId10">
            <a:extLst/>
          </a:blip>
          <a:srcRect l="0" t="0" r="0" b="0"/>
          <a:stretch>
            <a:fillRect/>
          </a:stretch>
        </p:blipFill>
        <p:spPr>
          <a:xfrm>
            <a:off x="579834" y="5664747"/>
            <a:ext cx="923796" cy="893507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Pruebas de integración"/>
          <p:cNvSpPr txBox="1"/>
          <p:nvPr/>
        </p:nvSpPr>
        <p:spPr>
          <a:xfrm>
            <a:off x="2945342" y="7950747"/>
            <a:ext cx="30334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Pruebas de integración</a:t>
            </a:r>
          </a:p>
        </p:txBody>
      </p:sp>
      <p:pic>
        <p:nvPicPr>
          <p:cNvPr id="441" name="droppedImage.pdf" descr="droppedImage.pdf"/>
          <p:cNvPicPr>
            <a:picLocks noChangeAspect="1"/>
          </p:cNvPicPr>
          <p:nvPr/>
        </p:nvPicPr>
        <p:blipFill>
          <a:blip r:embed="rId10">
            <a:extLst/>
          </a:blip>
          <a:srcRect l="0" t="0" r="0" b="0"/>
          <a:stretch>
            <a:fillRect/>
          </a:stretch>
        </p:blipFill>
        <p:spPr>
          <a:xfrm>
            <a:off x="579834" y="6782347"/>
            <a:ext cx="923796" cy="893507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Desarrollo y pruebas unitarias"/>
          <p:cNvSpPr txBox="1"/>
          <p:nvPr/>
        </p:nvSpPr>
        <p:spPr>
          <a:xfrm>
            <a:off x="609169" y="7620547"/>
            <a:ext cx="1837545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584200"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Desarrollo y pruebas unitarias</a:t>
            </a:r>
          </a:p>
        </p:txBody>
      </p:sp>
      <p:pic>
        <p:nvPicPr>
          <p:cNvPr id="443" name="droppedImage.pdf" descr="droppedImage.pdf"/>
          <p:cNvPicPr>
            <a:picLocks noChangeAspect="1"/>
          </p:cNvPicPr>
          <p:nvPr/>
        </p:nvPicPr>
        <p:blipFill>
          <a:blip r:embed="rId10">
            <a:extLst/>
          </a:blip>
          <a:srcRect l="0" t="0" r="0" b="0"/>
          <a:stretch>
            <a:fillRect/>
          </a:stretch>
        </p:blipFill>
        <p:spPr>
          <a:xfrm>
            <a:off x="579834" y="4547147"/>
            <a:ext cx="923796" cy="89350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4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4862" y="3488880"/>
            <a:ext cx="674159" cy="62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droppedImage.pdf" descr="droppedImage.pdf"/>
          <p:cNvPicPr>
            <a:picLocks noChangeAspect="1"/>
          </p:cNvPicPr>
          <p:nvPr/>
        </p:nvPicPr>
        <p:blipFill>
          <a:blip r:embed="rId10">
            <a:extLst/>
          </a:blip>
          <a:srcRect l="0" t="0" r="0" b="0"/>
          <a:stretch>
            <a:fillRect/>
          </a:stretch>
        </p:blipFill>
        <p:spPr>
          <a:xfrm>
            <a:off x="579834" y="3429547"/>
            <a:ext cx="923796" cy="89350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droppedImage.pdf" descr="droppedImage.pdf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3782627" y="3548113"/>
            <a:ext cx="1358901" cy="92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droppedImage.pdf" descr="droppedImage.pdf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039711" y="4115446"/>
            <a:ext cx="984217" cy="893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droppedImage.pdf" descr="droppedImage.pdf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5039927" y="3912246"/>
            <a:ext cx="726018" cy="62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droppedImage.pdf" descr="droppedImage.pdf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5205027" y="4301001"/>
            <a:ext cx="1092201" cy="9955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droppedImage.pdf" descr="droppedImage.pdf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554027" y="4420246"/>
            <a:ext cx="1549401" cy="149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Línea Figura" descr="Línea Figura"/>
          <p:cNvPicPr>
            <a:picLocks noChangeAspect="0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514888" y="5954962"/>
            <a:ext cx="3047538" cy="888185"/>
          </a:xfrm>
          <a:prstGeom prst="rect">
            <a:avLst/>
          </a:prstGeom>
        </p:spPr>
      </p:pic>
      <p:grpSp>
        <p:nvGrpSpPr>
          <p:cNvPr id="455" name="Agrupar"/>
          <p:cNvGrpSpPr/>
          <p:nvPr/>
        </p:nvGrpSpPr>
        <p:grpSpPr>
          <a:xfrm>
            <a:off x="3810161" y="5448011"/>
            <a:ext cx="1659433" cy="839254"/>
            <a:chOff x="0" y="0"/>
            <a:chExt cx="1659432" cy="839252"/>
          </a:xfrm>
        </p:grpSpPr>
        <p:pic>
          <p:nvPicPr>
            <p:cNvPr id="453" name="droppedImage.pdf" descr="droppedImage.pdf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543607" y="0"/>
              <a:ext cx="524534" cy="6675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4" name="Defectos encontrados"/>
            <p:cNvSpPr txBox="1"/>
            <p:nvPr/>
          </p:nvSpPr>
          <p:spPr>
            <a:xfrm>
              <a:off x="0" y="562680"/>
              <a:ext cx="1659433" cy="2765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584200">
                <a:defRPr sz="1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Defectos encontrados</a:t>
              </a:r>
            </a:p>
          </p:txBody>
        </p:sp>
      </p:grpSp>
      <p:pic>
        <p:nvPicPr>
          <p:cNvPr id="456" name="Línea Figura" descr="Línea Figura"/>
          <p:cNvPicPr>
            <a:picLocks noChangeAspect="0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1413585" y="2783798"/>
            <a:ext cx="2818641" cy="803232"/>
          </a:xfrm>
          <a:prstGeom prst="rect">
            <a:avLst/>
          </a:prstGeom>
        </p:spPr>
      </p:pic>
      <p:sp>
        <p:nvSpPr>
          <p:cNvPr id="458" name="Círculo"/>
          <p:cNvSpPr/>
          <p:nvPr/>
        </p:nvSpPr>
        <p:spPr>
          <a:xfrm>
            <a:off x="728538" y="1964438"/>
            <a:ext cx="299493" cy="310946"/>
          </a:xfrm>
          <a:prstGeom prst="ellipse">
            <a:avLst/>
          </a:prstGeom>
          <a:gradFill>
            <a:gsLst>
              <a:gs pos="0">
                <a:schemeClr val="accent2">
                  <a:hueOff val="-2473793"/>
                  <a:satOff val="-50209"/>
                  <a:lumOff val="23543"/>
                </a:schemeClr>
              </a:gs>
              <a:gs pos="100000">
                <a:schemeClr val="accent2"/>
              </a:gs>
            </a:gsLst>
            <a:lin ang="5400000"/>
          </a:gradFill>
          <a:ln w="25400">
            <a:solidFill>
              <a:srgbClr val="006C23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9" name="Pruebas de Fábrica"/>
          <p:cNvSpPr/>
          <p:nvPr/>
        </p:nvSpPr>
        <p:spPr>
          <a:xfrm>
            <a:off x="1884238" y="1805523"/>
            <a:ext cx="2617856" cy="609601"/>
          </a:xfrm>
          <a:prstGeom prst="roundRect">
            <a:avLst>
              <a:gd name="adj" fmla="val 31250"/>
            </a:avLst>
          </a:prstGeom>
          <a:gradFill>
            <a:gsLst>
              <a:gs pos="0">
                <a:srgbClr val="D9E9F9"/>
              </a:gs>
              <a:gs pos="100000">
                <a:srgbClr val="87AEFF"/>
              </a:gs>
            </a:gsLst>
            <a:lin ang="5400000"/>
          </a:gradFill>
          <a:ln w="25400">
            <a:solidFill>
              <a:srgbClr val="0068A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2000">
                <a:solidFill>
                  <a:srgbClr val="0B4D9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Pruebas de Fábrica</a:t>
            </a:r>
          </a:p>
        </p:txBody>
      </p:sp>
      <p:sp>
        <p:nvSpPr>
          <p:cNvPr id="460" name="Control de calidad"/>
          <p:cNvSpPr/>
          <p:nvPr/>
        </p:nvSpPr>
        <p:spPr>
          <a:xfrm>
            <a:off x="4894726" y="1815110"/>
            <a:ext cx="2617857" cy="609601"/>
          </a:xfrm>
          <a:prstGeom prst="roundRect">
            <a:avLst>
              <a:gd name="adj" fmla="val 31250"/>
            </a:avLst>
          </a:prstGeom>
          <a:gradFill>
            <a:gsLst>
              <a:gs pos="0">
                <a:srgbClr val="D9E9F9"/>
              </a:gs>
              <a:gs pos="100000">
                <a:srgbClr val="87AEFF"/>
              </a:gs>
            </a:gsLst>
            <a:lin ang="5400000"/>
          </a:gradFill>
          <a:ln w="25400">
            <a:solidFill>
              <a:srgbClr val="0068A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2000">
                <a:solidFill>
                  <a:srgbClr val="0B4D9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Control de calidad</a:t>
            </a:r>
          </a:p>
        </p:txBody>
      </p:sp>
      <p:sp>
        <p:nvSpPr>
          <p:cNvPr id="461" name="Pruebas de aceptación"/>
          <p:cNvSpPr/>
          <p:nvPr/>
        </p:nvSpPr>
        <p:spPr>
          <a:xfrm>
            <a:off x="7939781" y="1792783"/>
            <a:ext cx="3008072" cy="609601"/>
          </a:xfrm>
          <a:prstGeom prst="roundRect">
            <a:avLst>
              <a:gd name="adj" fmla="val 31250"/>
            </a:avLst>
          </a:prstGeom>
          <a:gradFill>
            <a:gsLst>
              <a:gs pos="0">
                <a:srgbClr val="D9E9F9"/>
              </a:gs>
              <a:gs pos="100000">
                <a:srgbClr val="87AEFF"/>
              </a:gs>
            </a:gsLst>
            <a:lin ang="5400000"/>
          </a:gradFill>
          <a:ln w="25400">
            <a:solidFill>
              <a:srgbClr val="0068A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2000">
                <a:solidFill>
                  <a:srgbClr val="0B4D9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Pruebas de aceptación</a:t>
            </a:r>
          </a:p>
        </p:txBody>
      </p:sp>
      <p:sp>
        <p:nvSpPr>
          <p:cNvPr id="462" name="Círculo"/>
          <p:cNvSpPr/>
          <p:nvPr/>
        </p:nvSpPr>
        <p:spPr>
          <a:xfrm>
            <a:off x="11333038" y="1942111"/>
            <a:ext cx="299493" cy="310946"/>
          </a:xfrm>
          <a:prstGeom prst="ellipse">
            <a:avLst/>
          </a:prstGeom>
          <a:gradFill>
            <a:gsLst>
              <a:gs pos="0">
                <a:schemeClr val="accent5">
                  <a:hueOff val="260291"/>
                  <a:satOff val="1998"/>
                  <a:lumOff val="12368"/>
                </a:schemeClr>
              </a:gs>
              <a:gs pos="100000">
                <a:schemeClr val="accent5"/>
              </a:gs>
            </a:gsLst>
            <a:lin ang="5400000"/>
          </a:gradFill>
          <a:ln w="25400">
            <a:solidFill>
              <a:srgbClr val="6A11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63" name="Línea"/>
          <p:cNvSpPr/>
          <p:nvPr/>
        </p:nvSpPr>
        <p:spPr>
          <a:xfrm>
            <a:off x="1037257" y="2120403"/>
            <a:ext cx="837755" cy="1"/>
          </a:xfrm>
          <a:prstGeom prst="line">
            <a:avLst/>
          </a:prstGeom>
          <a:ln w="25400">
            <a:solidFill>
              <a:srgbClr val="0068AC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64" name="Línea"/>
          <p:cNvSpPr/>
          <p:nvPr/>
        </p:nvSpPr>
        <p:spPr>
          <a:xfrm>
            <a:off x="4496253" y="2119910"/>
            <a:ext cx="410587" cy="1"/>
          </a:xfrm>
          <a:prstGeom prst="line">
            <a:avLst/>
          </a:prstGeom>
          <a:ln w="25400">
            <a:solidFill>
              <a:srgbClr val="0068AC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65" name="Línea"/>
          <p:cNvSpPr/>
          <p:nvPr/>
        </p:nvSpPr>
        <p:spPr>
          <a:xfrm>
            <a:off x="10964738" y="2097583"/>
            <a:ext cx="351415" cy="1"/>
          </a:xfrm>
          <a:prstGeom prst="line">
            <a:avLst/>
          </a:prstGeom>
          <a:ln w="25400">
            <a:solidFill>
              <a:srgbClr val="0068AC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66" name="Línea"/>
          <p:cNvSpPr/>
          <p:nvPr/>
        </p:nvSpPr>
        <p:spPr>
          <a:xfrm>
            <a:off x="7528080" y="2097583"/>
            <a:ext cx="410588" cy="1"/>
          </a:xfrm>
          <a:prstGeom prst="line">
            <a:avLst/>
          </a:prstGeom>
          <a:ln w="25400">
            <a:solidFill>
              <a:srgbClr val="0068AC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67" name="Diseño de pruebas"/>
          <p:cNvSpPr txBox="1"/>
          <p:nvPr/>
        </p:nvSpPr>
        <p:spPr>
          <a:xfrm>
            <a:off x="7093114" y="7798347"/>
            <a:ext cx="248014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4200"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Diseño de pruebas</a:t>
            </a:r>
          </a:p>
        </p:txBody>
      </p:sp>
      <p:pic>
        <p:nvPicPr>
          <p:cNvPr id="468" name="droppedImage.pdf" descr="droppedImage.pdf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7602934" y="6911531"/>
            <a:ext cx="1460501" cy="1028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7891" y="7164599"/>
            <a:ext cx="410587" cy="52256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droppedImage.pdf" descr="droppedImage.pdf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125797" y="3928979"/>
            <a:ext cx="923926" cy="545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droppedImage.pdf" descr="droppedImage.pdf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 flipH="1">
            <a:off x="7478327" y="4098961"/>
            <a:ext cx="1076403" cy="63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droppedImage.pdf" descr="droppedImage.pdf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7998797" y="4153879"/>
            <a:ext cx="17653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" name="Línea Figura" descr="Línea Figura"/>
          <p:cNvPicPr>
            <a:picLocks noChangeAspect="0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1498665" y="5269162"/>
            <a:ext cx="7203961" cy="1959504"/>
          </a:xfrm>
          <a:prstGeom prst="rect">
            <a:avLst/>
          </a:prstGeom>
        </p:spPr>
      </p:pic>
      <p:grpSp>
        <p:nvGrpSpPr>
          <p:cNvPr id="477" name="Agrupar"/>
          <p:cNvGrpSpPr/>
          <p:nvPr/>
        </p:nvGrpSpPr>
        <p:grpSpPr>
          <a:xfrm>
            <a:off x="7949765" y="4688144"/>
            <a:ext cx="1659433" cy="839254"/>
            <a:chOff x="0" y="0"/>
            <a:chExt cx="1659432" cy="839252"/>
          </a:xfrm>
        </p:grpSpPr>
        <p:pic>
          <p:nvPicPr>
            <p:cNvPr id="475" name="droppedImage.pdf" descr="droppedImage.pdf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543607" y="0"/>
              <a:ext cx="524534" cy="6675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6" name="Defectos encontrados"/>
            <p:cNvSpPr txBox="1"/>
            <p:nvPr/>
          </p:nvSpPr>
          <p:spPr>
            <a:xfrm>
              <a:off x="0" y="562680"/>
              <a:ext cx="1659433" cy="2765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584200">
                <a:defRPr sz="1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Defectos encontrados</a:t>
              </a:r>
            </a:p>
          </p:txBody>
        </p:sp>
      </p:grpSp>
      <p:pic>
        <p:nvPicPr>
          <p:cNvPr id="478" name="Línea Figura" descr="Línea Figura"/>
          <p:cNvPicPr>
            <a:picLocks noChangeAspect="0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591886" y="3024014"/>
            <a:ext cx="2818640" cy="803232"/>
          </a:xfrm>
          <a:prstGeom prst="rect">
            <a:avLst/>
          </a:prstGeom>
        </p:spPr>
      </p:pic>
      <p:pic>
        <p:nvPicPr>
          <p:cNvPr id="480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7891" y="7177299"/>
            <a:ext cx="410587" cy="52256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3" name="Agrupar"/>
          <p:cNvGrpSpPr/>
          <p:nvPr/>
        </p:nvGrpSpPr>
        <p:grpSpPr>
          <a:xfrm>
            <a:off x="9944825" y="7013131"/>
            <a:ext cx="2480141" cy="1547217"/>
            <a:chOff x="0" y="0"/>
            <a:chExt cx="2480139" cy="1547215"/>
          </a:xfrm>
        </p:grpSpPr>
        <p:pic>
          <p:nvPicPr>
            <p:cNvPr id="481" name="droppedImage.pdf" descr="droppedImage.pdf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376469" y="0"/>
              <a:ext cx="1727201" cy="800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2" name="Verificación de pruebas"/>
            <p:cNvSpPr txBox="1"/>
            <p:nvPr/>
          </p:nvSpPr>
          <p:spPr>
            <a:xfrm>
              <a:off x="0" y="785215"/>
              <a:ext cx="2480140" cy="762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pPr/>
              <a:r>
                <a:t>Verificación de pruebas</a:t>
              </a:r>
            </a:p>
          </p:txBody>
        </p:sp>
      </p:grpSp>
      <p:pic>
        <p:nvPicPr>
          <p:cNvPr id="484" name="Línea Figura" descr="Línea Figura"/>
          <p:cNvPicPr>
            <a:picLocks noChangeAspect="0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8871024" y="8157616"/>
            <a:ext cx="1740259" cy="831094"/>
          </a:xfrm>
          <a:prstGeom prst="rect">
            <a:avLst/>
          </a:prstGeom>
        </p:spPr>
      </p:pic>
      <p:pic>
        <p:nvPicPr>
          <p:cNvPr id="486" name="Línea Figura" descr="Línea Figura"/>
          <p:cNvPicPr>
            <a:picLocks noChangeAspect="0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8895303" y="6498779"/>
            <a:ext cx="1587805" cy="707062"/>
          </a:xfrm>
          <a:prstGeom prst="rect">
            <a:avLst/>
          </a:prstGeom>
        </p:spPr>
      </p:pic>
      <p:pic>
        <p:nvPicPr>
          <p:cNvPr id="488" name="Línea Figura" descr="Línea Figura"/>
          <p:cNvPicPr>
            <a:picLocks noChangeAspect="0"/>
          </p:cNvPicPr>
          <p:nvPr/>
        </p:nvPicPr>
        <p:blipFill>
          <a:blip r:embed="rId24">
            <a:extLst/>
          </a:blip>
          <a:stretch>
            <a:fillRect/>
          </a:stretch>
        </p:blipFill>
        <p:spPr>
          <a:xfrm>
            <a:off x="1551090" y="5012211"/>
            <a:ext cx="10027601" cy="2228656"/>
          </a:xfrm>
          <a:prstGeom prst="rect">
            <a:avLst/>
          </a:prstGeom>
        </p:spPr>
      </p:pic>
      <p:grpSp>
        <p:nvGrpSpPr>
          <p:cNvPr id="492" name="Agrupar"/>
          <p:cNvGrpSpPr/>
          <p:nvPr/>
        </p:nvGrpSpPr>
        <p:grpSpPr>
          <a:xfrm>
            <a:off x="10515094" y="4690685"/>
            <a:ext cx="1659433" cy="839254"/>
            <a:chOff x="0" y="0"/>
            <a:chExt cx="1659432" cy="839252"/>
          </a:xfrm>
        </p:grpSpPr>
        <p:pic>
          <p:nvPicPr>
            <p:cNvPr id="490" name="droppedImage.pdf" descr="droppedImage.pdf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543607" y="0"/>
              <a:ext cx="524534" cy="6675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1" name="Defectos encontrados"/>
            <p:cNvSpPr txBox="1"/>
            <p:nvPr/>
          </p:nvSpPr>
          <p:spPr>
            <a:xfrm>
              <a:off x="0" y="562680"/>
              <a:ext cx="1659433" cy="2765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584200">
                <a:defRPr sz="1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/>
              <a:r>
                <a:t>Defectos encontrados</a:t>
              </a:r>
            </a:p>
          </p:txBody>
        </p:sp>
      </p:grpSp>
      <p:pic>
        <p:nvPicPr>
          <p:cNvPr id="493" name="Línea Figura" descr="Línea Figura"/>
          <p:cNvPicPr>
            <a:picLocks noChangeAspect="0"/>
          </p:cNvPicPr>
          <p:nvPr/>
        </p:nvPicPr>
        <p:blipFill>
          <a:blip r:embed="rId25">
            <a:extLst/>
          </a:blip>
          <a:stretch>
            <a:fillRect/>
          </a:stretch>
        </p:blipFill>
        <p:spPr>
          <a:xfrm>
            <a:off x="8488714" y="2905881"/>
            <a:ext cx="2522717" cy="1000364"/>
          </a:xfrm>
          <a:prstGeom prst="rect">
            <a:avLst/>
          </a:prstGeom>
        </p:spPr>
      </p:pic>
      <p:pic>
        <p:nvPicPr>
          <p:cNvPr id="495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79601" y="7382657"/>
            <a:ext cx="410588" cy="52256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3" name="Agrupar"/>
          <p:cNvGrpSpPr/>
          <p:nvPr/>
        </p:nvGrpSpPr>
        <p:grpSpPr>
          <a:xfrm>
            <a:off x="2424977" y="3410187"/>
            <a:ext cx="4555785" cy="3517901"/>
            <a:chOff x="0" y="0"/>
            <a:chExt cx="4555783" cy="3517900"/>
          </a:xfrm>
        </p:grpSpPr>
        <p:grpSp>
          <p:nvGrpSpPr>
            <p:cNvPr id="498" name="Agrupar"/>
            <p:cNvGrpSpPr/>
            <p:nvPr/>
          </p:nvGrpSpPr>
          <p:grpSpPr>
            <a:xfrm>
              <a:off x="63847" y="76200"/>
              <a:ext cx="953468" cy="1168400"/>
              <a:chOff x="0" y="0"/>
              <a:chExt cx="953467" cy="1168400"/>
            </a:xfrm>
          </p:grpSpPr>
          <p:pic>
            <p:nvPicPr>
              <p:cNvPr id="496" name="droppedImage.pdf" descr="droppedImage.pdf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151277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97" name="Procesos"/>
              <p:cNvSpPr txBox="1"/>
              <p:nvPr/>
            </p:nvSpPr>
            <p:spPr>
              <a:xfrm>
                <a:off x="0" y="800100"/>
                <a:ext cx="953468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Procesos</a:t>
                </a:r>
              </a:p>
            </p:txBody>
          </p:sp>
        </p:grpSp>
        <p:grpSp>
          <p:nvGrpSpPr>
            <p:cNvPr id="501" name="Agrupar"/>
            <p:cNvGrpSpPr/>
            <p:nvPr/>
          </p:nvGrpSpPr>
          <p:grpSpPr>
            <a:xfrm>
              <a:off x="77824" y="1206500"/>
              <a:ext cx="900114" cy="1130300"/>
              <a:chOff x="0" y="0"/>
              <a:chExt cx="900112" cy="1130300"/>
            </a:xfrm>
          </p:grpSpPr>
          <p:pic>
            <p:nvPicPr>
              <p:cNvPr id="499" name="droppedImage.pdf" descr="droppedImage.pdf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37300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00" name="Negocio"/>
              <p:cNvSpPr txBox="1"/>
              <p:nvPr/>
            </p:nvSpPr>
            <p:spPr>
              <a:xfrm>
                <a:off x="0" y="762000"/>
                <a:ext cx="900113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Negocio</a:t>
                </a:r>
              </a:p>
            </p:txBody>
          </p:sp>
        </p:grpSp>
        <p:grpSp>
          <p:nvGrpSpPr>
            <p:cNvPr id="504" name="Agrupar"/>
            <p:cNvGrpSpPr/>
            <p:nvPr/>
          </p:nvGrpSpPr>
          <p:grpSpPr>
            <a:xfrm>
              <a:off x="0" y="2311400"/>
              <a:ext cx="852562" cy="1206500"/>
              <a:chOff x="0" y="0"/>
              <a:chExt cx="852561" cy="1206500"/>
            </a:xfrm>
          </p:grpSpPr>
          <p:pic>
            <p:nvPicPr>
              <p:cNvPr id="502" name="droppedImage.pdf" descr="droppedImage.pdf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151624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03" name="Actores"/>
              <p:cNvSpPr txBox="1"/>
              <p:nvPr/>
            </p:nvSpPr>
            <p:spPr>
              <a:xfrm>
                <a:off x="0" y="838200"/>
                <a:ext cx="85256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Actores</a:t>
                </a:r>
              </a:p>
            </p:txBody>
          </p:sp>
        </p:grpSp>
        <p:grpSp>
          <p:nvGrpSpPr>
            <p:cNvPr id="507" name="Agrupar"/>
            <p:cNvGrpSpPr/>
            <p:nvPr/>
          </p:nvGrpSpPr>
          <p:grpSpPr>
            <a:xfrm>
              <a:off x="1413005" y="1244600"/>
              <a:ext cx="1404752" cy="1206500"/>
              <a:chOff x="0" y="0"/>
              <a:chExt cx="1404751" cy="1206500"/>
            </a:xfrm>
          </p:grpSpPr>
          <p:pic>
            <p:nvPicPr>
              <p:cNvPr id="505" name="droppedImage.pdf" descr="droppedImage.pdf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531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06" name="Casos de Uso"/>
              <p:cNvSpPr txBox="1"/>
              <p:nvPr/>
            </p:nvSpPr>
            <p:spPr>
              <a:xfrm>
                <a:off x="0" y="838200"/>
                <a:ext cx="140475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Casos de Uso</a:t>
                </a:r>
              </a:p>
            </p:txBody>
          </p:sp>
        </p:grpSp>
        <p:sp>
          <p:nvSpPr>
            <p:cNvPr id="508" name="Línea"/>
            <p:cNvSpPr/>
            <p:nvPr/>
          </p:nvSpPr>
          <p:spPr>
            <a:xfrm flipH="1" flipV="1">
              <a:off x="917264" y="587678"/>
              <a:ext cx="687318" cy="77377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9" name="Línea"/>
            <p:cNvSpPr/>
            <p:nvPr/>
          </p:nvSpPr>
          <p:spPr>
            <a:xfrm flipH="1" flipV="1">
              <a:off x="917204" y="1701751"/>
              <a:ext cx="708309" cy="138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0" name="Línea"/>
            <p:cNvSpPr/>
            <p:nvPr/>
          </p:nvSpPr>
          <p:spPr>
            <a:xfrm flipH="1">
              <a:off x="874675" y="2012363"/>
              <a:ext cx="723173" cy="6597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513" name="Agrupar"/>
            <p:cNvGrpSpPr/>
            <p:nvPr/>
          </p:nvGrpSpPr>
          <p:grpSpPr>
            <a:xfrm>
              <a:off x="2848805" y="0"/>
              <a:ext cx="1014191" cy="1003300"/>
              <a:chOff x="0" y="0"/>
              <a:chExt cx="1014189" cy="1003300"/>
            </a:xfrm>
          </p:grpSpPr>
          <p:pic>
            <p:nvPicPr>
              <p:cNvPr id="511" name="droppedImage.pdf" descr="droppedImage.pdf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18" y="0"/>
                <a:ext cx="825501" cy="6985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12" name="Interfaces"/>
              <p:cNvSpPr txBox="1"/>
              <p:nvPr/>
            </p:nvSpPr>
            <p:spPr>
              <a:xfrm>
                <a:off x="0" y="635000"/>
                <a:ext cx="1014190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Interfaces</a:t>
                </a:r>
              </a:p>
            </p:txBody>
          </p:sp>
        </p:grpSp>
        <p:grpSp>
          <p:nvGrpSpPr>
            <p:cNvPr id="516" name="Agrupar"/>
            <p:cNvGrpSpPr/>
            <p:nvPr/>
          </p:nvGrpSpPr>
          <p:grpSpPr>
            <a:xfrm>
              <a:off x="2847664" y="914400"/>
              <a:ext cx="970993" cy="1168400"/>
              <a:chOff x="0" y="0"/>
              <a:chExt cx="970991" cy="1168400"/>
            </a:xfrm>
          </p:grpSpPr>
          <p:pic>
            <p:nvPicPr>
              <p:cNvPr id="514" name="droppedImage.pdf" descr="droppedImage.pdf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161459" y="0"/>
                <a:ext cx="698501" cy="889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15" name="Reportes"/>
              <p:cNvSpPr txBox="1"/>
              <p:nvPr/>
            </p:nvSpPr>
            <p:spPr>
              <a:xfrm>
                <a:off x="0" y="800100"/>
                <a:ext cx="970992" cy="3683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Reportes</a:t>
                </a:r>
              </a:p>
            </p:txBody>
          </p:sp>
        </p:grpSp>
        <p:grpSp>
          <p:nvGrpSpPr>
            <p:cNvPr id="519" name="Agrupar"/>
            <p:cNvGrpSpPr/>
            <p:nvPr/>
          </p:nvGrpSpPr>
          <p:grpSpPr>
            <a:xfrm>
              <a:off x="2281057" y="2190236"/>
              <a:ext cx="2274727" cy="1162564"/>
              <a:chOff x="0" y="0"/>
              <a:chExt cx="2274726" cy="1162563"/>
            </a:xfrm>
          </p:grpSpPr>
          <p:pic>
            <p:nvPicPr>
              <p:cNvPr id="517" name="db2001.png" descr="db2001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728067" y="0"/>
                <a:ext cx="774701" cy="9085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18" name="Modelo de información"/>
              <p:cNvSpPr txBox="1"/>
              <p:nvPr/>
            </p:nvSpPr>
            <p:spPr>
              <a:xfrm>
                <a:off x="0" y="794263"/>
                <a:ext cx="2274727" cy="368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defTabSz="584200">
                  <a:defRPr sz="1800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/>
                <a:r>
                  <a:t>Modelo de información</a:t>
                </a:r>
              </a:p>
            </p:txBody>
          </p:sp>
        </p:grpSp>
        <p:sp>
          <p:nvSpPr>
            <p:cNvPr id="520" name="Línea"/>
            <p:cNvSpPr/>
            <p:nvPr/>
          </p:nvSpPr>
          <p:spPr>
            <a:xfrm flipH="1">
              <a:off x="2314892" y="482114"/>
              <a:ext cx="653221" cy="979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21" name="Línea"/>
            <p:cNvSpPr/>
            <p:nvPr/>
          </p:nvSpPr>
          <p:spPr>
            <a:xfrm flipH="1">
              <a:off x="2424924" y="1643518"/>
              <a:ext cx="586446" cy="748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22" name="Línea"/>
            <p:cNvSpPr/>
            <p:nvPr/>
          </p:nvSpPr>
          <p:spPr>
            <a:xfrm flipH="1" flipV="1">
              <a:off x="2452246" y="1927144"/>
              <a:ext cx="506100" cy="42084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524" name="droppedImage.pdf" descr="droppedImage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528932" y="4117629"/>
            <a:ext cx="825501" cy="76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7" name="Agrupar"/>
          <p:cNvGrpSpPr/>
          <p:nvPr/>
        </p:nvGrpSpPr>
        <p:grpSpPr>
          <a:xfrm>
            <a:off x="10562813" y="3430094"/>
            <a:ext cx="1837545" cy="1444228"/>
            <a:chOff x="0" y="0"/>
            <a:chExt cx="1837544" cy="1444226"/>
          </a:xfrm>
        </p:grpSpPr>
        <p:pic>
          <p:nvPicPr>
            <p:cNvPr id="525" name="droppedImage.pdf" descr="droppedImage.pdf"/>
            <p:cNvPicPr>
              <a:picLocks noChangeAspect="1"/>
            </p:cNvPicPr>
            <p:nvPr/>
          </p:nvPicPr>
          <p:blipFill>
            <a:blip r:embed="rId26">
              <a:extLst/>
            </a:blip>
            <a:stretch>
              <a:fillRect/>
            </a:stretch>
          </p:blipFill>
          <p:spPr>
            <a:xfrm flipH="1">
              <a:off x="250044" y="0"/>
              <a:ext cx="1587501" cy="889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6" name="droppedImage.pdf" descr="droppedImage.pdf"/>
            <p:cNvPicPr>
              <a:picLocks noChangeAspect="1"/>
            </p:cNvPicPr>
            <p:nvPr/>
          </p:nvPicPr>
          <p:blipFill>
            <a:blip r:embed="rId27">
              <a:extLst/>
            </a:blip>
            <a:stretch>
              <a:fillRect/>
            </a:stretch>
          </p:blipFill>
          <p:spPr>
            <a:xfrm>
              <a:off x="0" y="148826"/>
              <a:ext cx="1574800" cy="1295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28" name="index.jpg" descr="index.jpg"/>
          <p:cNvPicPr>
            <a:picLocks noChangeAspect="1"/>
          </p:cNvPicPr>
          <p:nvPr/>
        </p:nvPicPr>
        <p:blipFill>
          <a:blip r:embed="rId28">
            <a:extLst/>
          </a:blip>
          <a:stretch>
            <a:fillRect/>
          </a:stretch>
        </p:blipFill>
        <p:spPr>
          <a:xfrm>
            <a:off x="11978084" y="2981368"/>
            <a:ext cx="410587" cy="392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78615 0.238536" origin="layout" pathEditMode="relative">
                                      <p:cBhvr>
                                        <p:cTn id="6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mph" nodeType="withEffect" presetSubtype="0" presetID="6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434"/>
                                        </p:tgtEl>
                                      </p:cBhvr>
                                      <p:by x="10000" y="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path" nodeType="with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71648 0.210953" origin="layout" pathEditMode="relative">
                                      <p:cBhvr>
                                        <p:cTn id="12" dur="10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mph" nodeType="withEffect" presetSubtype="0" presetID="6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523"/>
                                        </p:tgtEl>
                                      </p:cBhvr>
                                      <p:by x="10000" y="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6" dur="1000" fill="hold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Class="exit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0" dur="1000" fill="hold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Class="entr" nodeType="afterEffect" presetID="10" grpId="1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1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1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"/>
                            </p:stCondLst>
                            <p:childTnLst>
                              <p:par>
                                <p:cTn id="54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1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"/>
                            </p:stCondLst>
                            <p:childTnLst>
                              <p:par>
                                <p:cTn id="58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1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path" nodeType="afterEffect" presetSubtype="0" presetID="-1" grpId="1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68079 -0.006678" origin="layout" pathEditMode="relative">
                                      <p:cBhvr>
                                        <p:cTn id="63" dur="1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path" nodeType="afterEffect" presetSubtype="0" presetID="-1" grpId="1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68770 -0.120895" origin="layout" pathEditMode="relative">
                                      <p:cBhvr>
                                        <p:cTn id="66" dur="1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path" nodeType="afterEffect" presetSubtype="0" presetID="-1" grpId="1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68419 -0.235931" origin="layout" pathEditMode="relative">
                                      <p:cBhvr>
                                        <p:cTn id="69" dur="1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path" nodeType="afterEffect" presetSubtype="0" presetID="-1" grpId="1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68415 -0.349915" origin="layout" pathEditMode="relative">
                                      <p:cBhvr>
                                        <p:cTn id="72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Class="entr" nodeType="afterEffect" presetSubtype="16" presetID="23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" presetClass="entr" nodeType="afterEffect" presetSubtype="2" presetID="22" grpId="26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02" dur="1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path" nodeType="afterEffect" presetSubtype="0" presetID="-1" grpId="2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20191 0.034630 -0.047173 0.061138 -0.077961 0.076590 C -0.111329 0.093337 -0.148061 0.096367 -0.181391 0.079593 C -0.197653 0.071408 -0.212368 0.058708 -0.226575 0.045231" origin="layout" pathEditMode="relative">
                                      <p:cBhvr>
                                        <p:cTn id="105" dur="2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Class="exit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8" dur="1000" fill="hold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Class="entr" nodeType="afterEffect" presetSubtype="8" presetID="22" grpId="29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3"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8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Class="entr" nodeType="after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2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Class="path" nodeType="afterEffect" presetSubtype="0" presetID="-1" grpId="3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19281 -0.002604" origin="layout" pathEditMode="relative">
                                      <p:cBhvr>
                                        <p:cTn id="125" dur="10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9"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Class="entr" nodeType="afterEffect" presetSubtype="2" presetID="2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33" dur="1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Class="entr" nodeType="afterEffect" presetSubtype="8" presetID="22" grpId="35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7"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Class="path" nodeType="afterEffect" presetSubtype="0" presetID="-1" grpId="3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1466 -0.307103" origin="layout" pathEditMode="relative">
                                      <p:cBhvr>
                                        <p:cTn id="140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Class="entr" nodeType="clickEffect" presetID="10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5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Class="path" nodeType="afterEffect" presetSubtype="0" presetID="-1" grpId="3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292606 0.038203" origin="layout" pathEditMode="relative">
                                      <p:cBhvr>
                                        <p:cTn id="148" dur="10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Class="entr" nodeType="afterEffect" presetID="10" grpId="39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2"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Class="exit" nodeType="afterEffect" presetID="10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55" dur="1000" fill="hold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"/>
                            </p:stCondLst>
                            <p:childTnLst>
                              <p:par>
                                <p:cTn id="158" presetClass="entr" nodeType="afterEffect" presetID="10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9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0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0"/>
                            </p:stCondLst>
                            <p:childTnLst>
                              <p:par>
                                <p:cTn id="162" presetClass="entr" nodeType="afterEffect" presetID="10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4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7000"/>
                            </p:stCondLst>
                            <p:childTnLst>
                              <p:par>
                                <p:cTn id="166" presetClass="exit" nodeType="afterEffect" presetID="10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67" dur="1000" fill="hold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8000"/>
                            </p:stCondLst>
                            <p:childTnLst>
                              <p:par>
                                <p:cTn id="170" presetClass="exit" nodeType="afterEffect" presetID="10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71" dur="1000" fill="hold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9000"/>
                            </p:stCondLst>
                            <p:childTnLst>
                              <p:par>
                                <p:cTn id="174" presetClass="entr" nodeType="afterEffect" presetSubtype="16" presetID="23" grpId="4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Class="entr" nodeType="clickEffect" presetSubtype="2" presetID="22" grpId="4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82" dur="1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Class="path" nodeType="afterEffect" presetSubtype="0" presetID="-1" grpId="4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24454 0.056299 -0.058775 0.103860 -0.100025 0.138612 C -0.201975 0.224502 -0.328610 0.224381 -0.445066 0.180560 C -0.479624 0.167556 -0.513605 0.150687 -0.542890 0.122909" origin="layout" pathEditMode="relative">
                                      <p:cBhvr>
                                        <p:cTn id="185" dur="2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000"/>
                            </p:stCondLst>
                            <p:childTnLst>
                              <p:par>
                                <p:cTn id="187" presetClass="exit" nodeType="afterEffect" presetID="10" grpId="4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88" dur="1000" fill="hold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000"/>
                            </p:stCondLst>
                            <p:childTnLst>
                              <p:par>
                                <p:cTn id="191" presetClass="entr" nodeType="afterEffect" presetSubtype="8" presetID="22" grpId="49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2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3"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Class="entr" nodeType="clickEffect" presetID="10" grpId="5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8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Class="entr" nodeType="afterEffect" presetID="10" grpId="5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1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2"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Class="path" nodeType="afterEffect" presetSubtype="0" presetID="-1" grpId="5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191998 -0.037984" origin="layout" pathEditMode="relative">
                                      <p:cBhvr>
                                        <p:cTn id="205" dur="10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Class="path" nodeType="withEffect" presetSubtype="0" presetID="-1" grpId="5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5670 -0.364538" origin="layout" pathEditMode="relative">
                                      <p:cBhvr>
                                        <p:cTn id="208" dur="10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Class="exit" nodeType="afterEffect" presetID="10" grpId="5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11" dur="1000" fill="hold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000"/>
                            </p:stCondLst>
                            <p:childTnLst>
                              <p:par>
                                <p:cTn id="214" presetClass="entr" nodeType="afterEffect" presetID="10" grpId="5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5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6"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000"/>
                            </p:stCondLst>
                            <p:childTnLst>
                              <p:par>
                                <p:cTn id="218" presetClass="exit" nodeType="afterEffect" presetID="10" grpId="5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19" dur="1000" fill="hold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2" presetClass="entr" nodeType="afterEffect" presetSubtype="16" presetID="23" grpId="5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3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27" presetClass="entr" nodeType="afterEffect" presetSubtype="2" presetID="22" grpId="5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8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29" dur="1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Class="path" nodeType="afterEffect" presetSubtype="0" presetID="-1" grpId="5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49010 0.024348 -0.097743 0.049678 -0.146181 0.075982 C -0.259253 0.137385 -0.372907 0.204692 -0.495131 0.212034 C -0.583468 0.217340 -0.672071 0.190207 -0.744113 0.121869" origin="layout" pathEditMode="relative">
                                      <p:cBhvr>
                                        <p:cTn id="232" dur="2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000"/>
                            </p:stCondLst>
                            <p:childTnLst>
                              <p:par>
                                <p:cTn id="234" presetClass="exit" nodeType="afterEffect" presetID="10" grpId="6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35" dur="1000" fill="hold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3000"/>
                            </p:stCondLst>
                            <p:childTnLst>
                              <p:par>
                                <p:cTn id="238" presetClass="entr" nodeType="afterEffect" presetSubtype="8" presetID="22" grpId="6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0"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0"/>
                            </p:stCondLst>
                            <p:childTnLst>
                              <p:par>
                                <p:cTn id="242" presetClass="entr" nodeType="afterEffect" presetID="10" grpId="6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3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4"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9" grpId="30"/>
      <p:bldP build="whole" bldLvl="1" animBg="1" rev="0" advAuto="0" spid="477" grpId="45"/>
      <p:bldP build="whole" bldLvl="1" animBg="1" rev="0" advAuto="0" spid="528" grpId="62"/>
      <p:bldP build="whole" bldLvl="1" animBg="1" rev="0" advAuto="0" spid="477" grpId="48"/>
      <p:bldP build="whole" bldLvl="1" animBg="1" rev="0" advAuto="0" spid="445" grpId="11"/>
      <p:bldP build="whole" bldLvl="1" animBg="1" rev="0" advAuto="0" spid="469" grpId="43"/>
      <p:bldP build="whole" bldLvl="1" animBg="1" rev="0" advAuto="0" spid="486" grpId="35"/>
      <p:bldP build="whole" bldLvl="1" animBg="1" rev="0" advAuto="0" spid="527" grpId="55"/>
      <p:bldP build="whole" bldLvl="1" animBg="1" rev="0" advAuto="0" spid="480" grpId="31"/>
      <p:bldP build="whole" bldLvl="1" animBg="1" rev="0" advAuto="0" spid="478" grpId="49"/>
      <p:bldP build="whole" bldLvl="1" animBg="1" rev="0" advAuto="0" spid="488" grpId="58"/>
      <p:bldP build="whole" bldLvl="1" animBg="1" rev="0" advAuto="0" spid="495" grpId="51"/>
      <p:bldP build="whole" bldLvl="1" animBg="1" rev="0" advAuto="0" spid="455" grpId="25"/>
      <p:bldP build="whole" bldLvl="1" animBg="1" rev="0" advAuto="0" spid="480" grpId="40"/>
      <p:bldP build="whole" bldLvl="1" animBg="1" rev="0" advAuto="0" spid="455" grpId="28"/>
      <p:bldP build="whole" bldLvl="1" animBg="1" rev="0" advAuto="0" spid="470" grpId="39"/>
      <p:bldP build="whole" bldLvl="1" animBg="1" rev="0" advAuto="0" spid="468" grpId="6"/>
      <p:bldP build="whole" bldLvl="1" animBg="1" rev="0" advAuto="0" spid="495" grpId="54"/>
      <p:bldP build="whole" bldLvl="1" animBg="1" rev="0" advAuto="0" spid="438" grpId="15"/>
      <p:bldP build="whole" bldLvl="1" animBg="1" rev="0" advAuto="0" spid="450" grpId="24"/>
      <p:bldP build="whole" bldLvl="1" animBg="1" rev="0" advAuto="0" spid="434" grpId="2"/>
      <p:bldP build="whole" bldLvl="1" animBg="1" rev="0" advAuto="0" spid="444" grpId="12"/>
      <p:bldP build="whole" bldLvl="1" animBg="1" rev="0" advAuto="0" spid="471" grpId="41"/>
      <p:bldP build="whole" bldLvl="1" animBg="1" rev="0" advAuto="0" spid="451" grpId="26"/>
      <p:bldP build="whole" bldLvl="1" animBg="1" rev="0" advAuto="0" spid="524" grpId="50"/>
      <p:bldP build="whole" bldLvl="1" animBg="1" rev="0" advAuto="0" spid="492" grpId="57"/>
      <p:bldP build="whole" bldLvl="1" animBg="1" rev="0" advAuto="0" spid="434" grpId="8"/>
      <p:bldP build="whole" bldLvl="1" animBg="1" rev="0" advAuto="0" spid="472" grpId="42"/>
      <p:bldP build="whole" bldLvl="1" animBg="1" rev="0" advAuto="0" spid="449" grpId="23"/>
      <p:bldP build="whole" bldLvl="1" animBg="1" rev="0" advAuto="0" spid="443" grpId="10"/>
      <p:bldP build="whole" bldLvl="1" animBg="1" rev="0" advAuto="0" spid="435" grpId="37"/>
      <p:bldP build="whole" bldLvl="1" animBg="1" rev="0" advAuto="0" spid="437" grpId="14"/>
      <p:bldP build="whole" bldLvl="1" animBg="1" rev="0" advAuto="0" spid="524" grpId="56"/>
      <p:bldP build="whole" bldLvl="1" animBg="1" rev="0" advAuto="0" spid="492" grpId="60"/>
      <p:bldP build="whole" bldLvl="1" animBg="1" rev="0" advAuto="0" spid="456" grpId="29"/>
      <p:bldP build="whole" bldLvl="1" animBg="1" rev="0" advAuto="0" spid="448" grpId="21"/>
      <p:bldP build="whole" bldLvl="1" animBg="1" rev="0" advAuto="0" spid="447" grpId="22"/>
      <p:bldP build="whole" bldLvl="1" animBg="1" rev="0" advAuto="0" spid="435" grpId="44"/>
      <p:bldP build="whole" bldLvl="1" animBg="1" rev="0" advAuto="0" spid="436" grpId="13"/>
      <p:bldP build="whole" bldLvl="1" animBg="1" rev="0" advAuto="0" spid="493" grpId="61"/>
      <p:bldP build="whole" bldLvl="1" animBg="1" rev="0" advAuto="0" spid="473" grpId="46"/>
      <p:bldP build="whole" bldLvl="1" animBg="1" rev="0" advAuto="0" spid="439" grpId="9"/>
      <p:bldP build="whole" bldLvl="1" animBg="1" rev="0" advAuto="0" spid="523" grpId="4"/>
      <p:bldP build="whole" bldLvl="1" animBg="1" rev="0" advAuto="0" spid="483" grpId="33"/>
      <p:bldP build="whole" bldLvl="1" animBg="1" rev="0" advAuto="0" spid="484" grpId="34"/>
      <p:bldP build="whole" bldLvl="1" animBg="1" rev="0" advAuto="0" spid="523" grpId="7"/>
      <p:bldP build="whole" bldLvl="1" animBg="1" rev="0" advAuto="0" spid="446" grpId="20"/>
      <p:bldP build="whole" bldLvl="1" animBg="1" rev="0" advAuto="0" spid="441" grpId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agree-agreement-ankreuzen-210585.jpg" descr="agree-agreement-ankreuzen-210585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3776" r="0" b="13776"/>
          <a:stretch>
            <a:fillRect/>
          </a:stretch>
        </p:blipFill>
        <p:spPr>
          <a:xfrm>
            <a:off x="533400" y="3479800"/>
            <a:ext cx="11938000" cy="5765800"/>
          </a:xfrm>
          <a:prstGeom prst="rect">
            <a:avLst/>
          </a:prstGeom>
        </p:spPr>
      </p:pic>
      <p:sp>
        <p:nvSpPr>
          <p:cNvPr id="531" name="FIRMA DEL CONVENI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FIRMA DEL CONVENIO</a:t>
            </a:r>
          </a:p>
        </p:txBody>
      </p:sp>
      <p:grpSp>
        <p:nvGrpSpPr>
          <p:cNvPr id="534" name="Agrupar"/>
          <p:cNvGrpSpPr/>
          <p:nvPr/>
        </p:nvGrpSpPr>
        <p:grpSpPr>
          <a:xfrm>
            <a:off x="219438" y="8284154"/>
            <a:ext cx="1333501" cy="1333501"/>
            <a:chOff x="0" y="0"/>
            <a:chExt cx="1333500" cy="1333500"/>
          </a:xfrm>
        </p:grpSpPr>
        <p:sp>
          <p:nvSpPr>
            <p:cNvPr id="532" name="Círculo"/>
            <p:cNvSpPr/>
            <p:nvPr/>
          </p:nvSpPr>
          <p:spPr>
            <a:xfrm>
              <a:off x="0" y="0"/>
              <a:ext cx="1333500" cy="1333500"/>
            </a:xfrm>
            <a:prstGeom prst="ellipse">
              <a:avLst/>
            </a:prstGeom>
            <a:solidFill>
              <a:srgbClr val="9E1400">
                <a:alpha val="504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cap="all" spc="32"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Futura"/>
                </a:defRPr>
              </a:pPr>
            </a:p>
          </p:txBody>
        </p:sp>
        <p:pic>
          <p:nvPicPr>
            <p:cNvPr id="533" name="CIT-white.png" descr="CIT-white.png"/>
            <p:cNvPicPr>
              <a:picLocks noChangeAspect="1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165623" y="260327"/>
              <a:ext cx="1002254" cy="812846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50800" dist="63500" dir="270000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¡Gracias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¡Gracias!</a:t>
            </a:r>
          </a:p>
        </p:txBody>
      </p:sp>
      <p:sp>
        <p:nvSpPr>
          <p:cNvPr id="537" name="Escuela Superior de Cómputo…"/>
          <p:cNvSpPr txBox="1"/>
          <p:nvPr>
            <p:ph type="body" sz="quarter" idx="4294967295"/>
          </p:nvPr>
        </p:nvSpPr>
        <p:spPr>
          <a:xfrm>
            <a:off x="1998202" y="465004"/>
            <a:ext cx="10452101" cy="1752601"/>
          </a:xfrm>
          <a:prstGeom prst="rect">
            <a:avLst/>
          </a:prstGeom>
        </p:spPr>
        <p:txBody>
          <a:bodyPr lIns="38100" tIns="38100" rIns="38100" bIns="38100">
            <a:noAutofit/>
          </a:bodyPr>
          <a:lstStyle/>
          <a:p>
            <a:pPr marL="0" indent="0" algn="r">
              <a:spcBef>
                <a:spcPts val="0"/>
              </a:spcBef>
              <a:buClr>
                <a:srgbClr val="9A9A9A"/>
              </a:buClr>
              <a:buSzTx/>
              <a:buNone/>
              <a:defRPr cap="all" spc="58" sz="29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pPr>
            <a:r>
              <a:t>Escuela Superior de Cómputo</a:t>
            </a:r>
          </a:p>
          <a:p>
            <a:pPr marL="0" indent="0" algn="r">
              <a:spcBef>
                <a:spcPts val="0"/>
              </a:spcBef>
              <a:buClr>
                <a:srgbClr val="9A9A9A"/>
              </a:buClr>
              <a:buSzTx/>
              <a:buNone/>
              <a:defRPr cap="all" spc="58" sz="29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pPr>
            <a:r>
              <a:t>Instituto Politécnico Nacional </a:t>
            </a:r>
          </a:p>
        </p:txBody>
      </p:sp>
      <p:sp>
        <p:nvSpPr>
          <p:cNvPr id="538" name="Número de diapositiva"/>
          <p:cNvSpPr txBox="1"/>
          <p:nvPr>
            <p:ph type="sldNum" sz="quarter" idx="4294967295"/>
          </p:nvPr>
        </p:nvSpPr>
        <p:spPr>
          <a:xfrm>
            <a:off x="6319258" y="9283700"/>
            <a:ext cx="340884" cy="342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39" name="Texto"/>
          <p:cNvSpPr txBox="1"/>
          <p:nvPr/>
        </p:nvSpPr>
        <p:spPr>
          <a:xfrm>
            <a:off x="463159" y="6110528"/>
            <a:ext cx="4305301" cy="3403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 defTabSz="584200"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40" name="Círculo"/>
          <p:cNvSpPr/>
          <p:nvPr/>
        </p:nvSpPr>
        <p:spPr>
          <a:xfrm>
            <a:off x="596900" y="1060450"/>
            <a:ext cx="1778000" cy="1778000"/>
          </a:xfrm>
          <a:prstGeom prst="ellipse">
            <a:avLst/>
          </a:prstGeom>
          <a:solidFill>
            <a:srgbClr val="9E14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cap="all" spc="32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pPr>
          </a:p>
        </p:txBody>
      </p:sp>
      <p:pic>
        <p:nvPicPr>
          <p:cNvPr id="541" name="CIT-white.png" descr="CIT-whi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7730" y="1407553"/>
            <a:ext cx="1336340" cy="1083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pic>
        <p:nvPicPr>
          <p:cNvPr id="542" name="mc-r.png" descr="mc-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20069" y="8170477"/>
            <a:ext cx="2463699" cy="98415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  <p:pic>
        <p:nvPicPr>
          <p:cNvPr id="543" name="escom blanco.png" descr="escom blanc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48884" y="8120655"/>
            <a:ext cx="1083794" cy="1083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  <p:pic>
        <p:nvPicPr>
          <p:cNvPr id="544" name="ipn blanco.png" descr="ipn blanco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73187" y="8027447"/>
            <a:ext cx="1185465" cy="127021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8455" dir="540000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7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5B5854"/>
      </a:dk1>
      <a:lt1>
        <a:srgbClr val="072B5B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32" strike="noStrike" sz="1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C87C6D">
              <a:alpha val="75000"/>
            </a:srgb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B5854"/>
            </a:solidFill>
            <a:effectLst/>
            <a:uFillTx/>
            <a:latin typeface="Avenir Medium"/>
            <a:ea typeface="Avenir Medium"/>
            <a:cs typeface="Avenir Medium"/>
            <a:sym typeface="Avenir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32" strike="noStrike" sz="1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C87C6D">
              <a:alpha val="75000"/>
            </a:srgb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B5854"/>
            </a:solidFill>
            <a:effectLst/>
            <a:uFillTx/>
            <a:latin typeface="Avenir Medium"/>
            <a:ea typeface="Avenir Medium"/>
            <a:cs typeface="Avenir Medium"/>
            <a:sym typeface="Avenir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