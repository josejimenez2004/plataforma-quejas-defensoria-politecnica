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media/image1.jpeg" ContentType="image/jpeg"/>
  <Override PartName="/ppt/media/image2.jpe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3.jpeg" ContentType="image/jpeg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26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8" name="Shape 26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Shape 2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2" name="Shape 2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A fin de desarrollar las capacidade sde los alumnos fortaleciendo sus conocimeintos y su formación .</a:t>
            </a:r>
          </a:p>
          <a:p>
            <a: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</a:p>
          <a:p>
            <a:pPr defTabSz="584200">
              <a:lnSpc>
                <a:spcPct val="100000"/>
              </a:lnSpc>
              <a:defRPr sz="2200">
                <a:latin typeface="Lucida Grande"/>
                <a:ea typeface="Lucida Grande"/>
                <a:cs typeface="Lucida Grande"/>
                <a:sym typeface="Lucida Grande"/>
              </a:defRPr>
            </a:pPr>
            <a:r>
              <a:t>A si mismo, profesionalizamos a nuestros profesores permitiendoles aplicar la teoria en proyectos reales de impacto social.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4" name="Shape 2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águila calva (blanca)   kusá  Tarahumara</a:t>
            </a:r>
          </a:p>
          <a:p>
            <a: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tlamachtilli alumno, discípulo, iniciado Nahuatl</a:t>
            </a:r>
          </a:p>
          <a:p>
            <a: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calmécac. (del náhuatl calli 'casa', mecatl 'morador' y -c ‘lugar) En esta institución se les entrenaba para ser sacerdotes, guerreros de la élite, jueces, maestros o gobernantes, educándolos en historia, astronomía y otras ciencias, la medición del tiempo, música y filosofía, religión, hábitos de limpieza, cuestiones de economía y gobierno, y sobre todo, disciplina y valores morales.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0" name="Shape 3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Jaime / Chadwick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hape 3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2" name="Shape 3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Jaime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36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5" name="Shape 36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Procesos de soporte</a:t>
            </a:r>
          </a:p>
          <a:p>
            <a: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Salones</a:t>
            </a:r>
          </a:p>
          <a:p>
            <a: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Horarios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3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9" name="Shape 3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lnSpc>
                <a:spcPct val="117999"/>
              </a:lnSpc>
              <a:defRPr sz="2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ejemplos de porque colapsa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.gif"/><Relationship Id="rId5" Type="http://schemas.openxmlformats.org/officeDocument/2006/relationships/image" Target="../media/image9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gif"/><Relationship Id="rId4" Type="http://schemas.openxmlformats.org/officeDocument/2006/relationships/image" Target="../media/image10.png"/><Relationship Id="rId5" Type="http://schemas.openxmlformats.org/officeDocument/2006/relationships/image" Target="../media/image9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el título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12" name="Nivel de texto 1…"/>
          <p:cNvSpPr txBox="1"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n"/>
          <p:cNvSpPr/>
          <p:nvPr>
            <p:ph type="pic" idx="21"/>
          </p:nvPr>
        </p:nvSpPr>
        <p:spPr>
          <a:xfrm>
            <a:off x="1606550" y="635000"/>
            <a:ext cx="9779000" cy="652272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exto del título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22" name="Nivel de texto 1…"/>
          <p:cNvSpPr txBox="1"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3" name="Número de diapositiva"/>
          <p:cNvSpPr txBox="1"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o del título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n"/>
          <p:cNvSpPr/>
          <p:nvPr>
            <p:ph type="pic" idx="21"/>
          </p:nvPr>
        </p:nvSpPr>
        <p:spPr>
          <a:xfrm>
            <a:off x="2717800" y="635000"/>
            <a:ext cx="12357100" cy="8238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exto del título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Texto del título</a:t>
            </a:r>
          </a:p>
        </p:txBody>
      </p:sp>
      <p:sp>
        <p:nvSpPr>
          <p:cNvPr id="40" name="Nivel de texto 1…"/>
          <p:cNvSpPr txBox="1"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4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57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n"/>
          <p:cNvSpPr/>
          <p:nvPr>
            <p:ph type="pic" idx="21"/>
          </p:nvPr>
        </p:nvSpPr>
        <p:spPr>
          <a:xfrm>
            <a:off x="4533900" y="26035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67" name="Nivel de texto 1…"/>
          <p:cNvSpPr txBox="1"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6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Nivel de texto 1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7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n"/>
          <p:cNvSpPr/>
          <p:nvPr>
            <p:ph type="pic" idx="21"/>
          </p:nvPr>
        </p:nvSpPr>
        <p:spPr>
          <a:xfrm>
            <a:off x="-2374900" y="889000"/>
            <a:ext cx="11976100" cy="798406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n"/>
          <p:cNvSpPr/>
          <p:nvPr>
            <p:ph type="pic" sz="quarter" idx="22"/>
          </p:nvPr>
        </p:nvSpPr>
        <p:spPr>
          <a:xfrm>
            <a:off x="6680200" y="5026947"/>
            <a:ext cx="6057901" cy="404070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n"/>
          <p:cNvSpPr/>
          <p:nvPr>
            <p:ph type="pic" sz="quarter" idx="23"/>
          </p:nvPr>
        </p:nvSpPr>
        <p:spPr>
          <a:xfrm>
            <a:off x="6502400" y="886747"/>
            <a:ext cx="5867400" cy="39116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/>
          <p:nvPr>
            <p:ph type="body" sz="quarter" idx="21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/>
          <p:nvPr>
            <p:ph type="body" sz="quarter" idx="22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n"/>
          <p:cNvSpPr/>
          <p:nvPr>
            <p:ph type="pic" idx="21"/>
          </p:nvPr>
        </p:nvSpPr>
        <p:spPr>
          <a:xfrm>
            <a:off x="-812800" y="0"/>
            <a:ext cx="14622784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riángulo"/>
          <p:cNvSpPr/>
          <p:nvPr/>
        </p:nvSpPr>
        <p:spPr>
          <a:xfrm>
            <a:off x="508000" y="2171700"/>
            <a:ext cx="11997292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8" name="Triángulo"/>
          <p:cNvSpPr/>
          <p:nvPr/>
        </p:nvSpPr>
        <p:spPr>
          <a:xfrm>
            <a:off x="508000" y="635000"/>
            <a:ext cx="11997292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19" name="Texto del título"/>
          <p:cNvSpPr txBox="1"/>
          <p:nvPr>
            <p:ph type="title"/>
          </p:nvPr>
        </p:nvSpPr>
        <p:spPr>
          <a:xfrm>
            <a:off x="508000" y="800100"/>
            <a:ext cx="11988800" cy="12192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600"/>
              </a:spcBef>
              <a:defRPr sz="7000">
                <a:solidFill>
                  <a:srgbClr val="D93E2B"/>
                </a:solidFill>
                <a:latin typeface="Bodoni SvtyTwo ITC TT-Book"/>
                <a:ea typeface="Bodoni SvtyTwo ITC TT-Book"/>
                <a:cs typeface="Bodoni SvtyTwo ITC TT-Book"/>
                <a:sym typeface="Bodoni SvtyTwo ITC TT-Book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20" name="Nivel de texto 1…"/>
          <p:cNvSpPr txBox="1"/>
          <p:nvPr>
            <p:ph type="body" idx="1"/>
          </p:nvPr>
        </p:nvSpPr>
        <p:spPr>
          <a:xfrm>
            <a:off x="508000" y="2628900"/>
            <a:ext cx="11988800" cy="6096000"/>
          </a:xfrm>
          <a:prstGeom prst="rect">
            <a:avLst/>
          </a:prstGeom>
        </p:spPr>
        <p:txBody>
          <a:bodyPr/>
          <a:lstStyle>
            <a:lvl1pPr marL="469900" indent="-469900">
              <a:spcBef>
                <a:spcPts val="2400"/>
              </a:spcBef>
              <a:buClr>
                <a:srgbClr val="929292"/>
              </a:buClr>
              <a:buSzPct val="60000"/>
              <a:buFont typeface="Zapf Dingbats"/>
              <a:buChar char="❖"/>
              <a:defRPr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939800" indent="-469900">
              <a:spcBef>
                <a:spcPts val="2400"/>
              </a:spcBef>
              <a:buClr>
                <a:srgbClr val="929292"/>
              </a:buClr>
              <a:buSzPct val="60000"/>
              <a:buFont typeface="Zapf Dingbats"/>
              <a:buChar char="❖"/>
              <a:defRPr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1409700" indent="-469900">
              <a:spcBef>
                <a:spcPts val="2400"/>
              </a:spcBef>
              <a:buClr>
                <a:srgbClr val="929292"/>
              </a:buClr>
              <a:buSzPct val="60000"/>
              <a:buFont typeface="Zapf Dingbats"/>
              <a:buChar char="❖"/>
              <a:defRPr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1879600" indent="-469900">
              <a:spcBef>
                <a:spcPts val="2400"/>
              </a:spcBef>
              <a:buClr>
                <a:srgbClr val="929292"/>
              </a:buClr>
              <a:buSzPct val="60000"/>
              <a:buFont typeface="Zapf Dingbats"/>
              <a:buChar char="❖"/>
              <a:defRPr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2349500" indent="-469900">
              <a:spcBef>
                <a:spcPts val="2400"/>
              </a:spcBef>
              <a:buClr>
                <a:srgbClr val="929292"/>
              </a:buClr>
              <a:buSzPct val="60000"/>
              <a:buFont typeface="Zapf Dingbats"/>
              <a:buChar char="❖"/>
              <a:defRPr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21" name="Número de diapositiva"/>
          <p:cNvSpPr txBox="1"/>
          <p:nvPr>
            <p:ph type="sldNum" sz="quarter" idx="2"/>
          </p:nvPr>
        </p:nvSpPr>
        <p:spPr>
          <a:xfrm>
            <a:off x="6324599" y="9258300"/>
            <a:ext cx="342901" cy="4064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riángulo"/>
          <p:cNvSpPr/>
          <p:nvPr/>
        </p:nvSpPr>
        <p:spPr>
          <a:xfrm rot="16200000">
            <a:off x="7172923" y="7874934"/>
            <a:ext cx="164275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29" name="Triángulo"/>
          <p:cNvSpPr/>
          <p:nvPr/>
        </p:nvSpPr>
        <p:spPr>
          <a:xfrm>
            <a:off x="508000" y="9131300"/>
            <a:ext cx="11999453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0" name="Triángulo"/>
          <p:cNvSpPr/>
          <p:nvPr/>
        </p:nvSpPr>
        <p:spPr>
          <a:xfrm>
            <a:off x="508000" y="6629400"/>
            <a:ext cx="12000019" cy="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1" name="Triángulo"/>
          <p:cNvSpPr/>
          <p:nvPr/>
        </p:nvSpPr>
        <p:spPr>
          <a:xfrm rot="16200000">
            <a:off x="7172923" y="7874934"/>
            <a:ext cx="1642759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4444">
                <a:alpha val="30000"/>
              </a:srgbClr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32" name="Lorem Ipsum Dolor"/>
          <p:cNvSpPr txBox="1"/>
          <p:nvPr>
            <p:ph type="body" sz="quarter" idx="21"/>
          </p:nvPr>
        </p:nvSpPr>
        <p:spPr>
          <a:xfrm>
            <a:off x="508000" y="6096000"/>
            <a:ext cx="7200900" cy="50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i="1" sz="2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r>
              <a:t>Lorem Ipsum Dolor</a:t>
            </a:r>
          </a:p>
        </p:txBody>
      </p:sp>
      <p:sp>
        <p:nvSpPr>
          <p:cNvPr id="133" name="Imagen"/>
          <p:cNvSpPr/>
          <p:nvPr>
            <p:ph type="pic" idx="22"/>
          </p:nvPr>
        </p:nvSpPr>
        <p:spPr>
          <a:xfrm>
            <a:off x="596900" y="-2679700"/>
            <a:ext cx="11798300" cy="11798300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34" name="Texto del título"/>
          <p:cNvSpPr txBox="1"/>
          <p:nvPr>
            <p:ph type="title"/>
          </p:nvPr>
        </p:nvSpPr>
        <p:spPr>
          <a:xfrm>
            <a:off x="508000" y="6680200"/>
            <a:ext cx="7200900" cy="2413000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spcBef>
                <a:spcPts val="1600"/>
              </a:spcBef>
              <a:defRPr sz="7000">
                <a:solidFill>
                  <a:srgbClr val="D93E2B"/>
                </a:solidFill>
                <a:latin typeface="Bodoni SvtyTwo ITC TT-Book"/>
                <a:ea typeface="Bodoni SvtyTwo ITC TT-Book"/>
                <a:cs typeface="Bodoni SvtyTwo ITC TT-Book"/>
                <a:sym typeface="Bodoni SvtyTwo ITC TT-Book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35" name="Nivel de texto 1…"/>
          <p:cNvSpPr txBox="1"/>
          <p:nvPr>
            <p:ph type="body" sz="quarter" idx="1"/>
          </p:nvPr>
        </p:nvSpPr>
        <p:spPr>
          <a:xfrm>
            <a:off x="8280400" y="6680200"/>
            <a:ext cx="4241800" cy="2413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1pPr>
            <a:lvl2pPr marL="0" indent="228600">
              <a:spcBef>
                <a:spcPts val="0"/>
              </a:spcBef>
              <a:buSzTx/>
              <a:buNone/>
              <a:defRPr sz="2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2pPr>
            <a:lvl3pPr marL="0" indent="457200">
              <a:spcBef>
                <a:spcPts val="0"/>
              </a:spcBef>
              <a:buSzTx/>
              <a:buNone/>
              <a:defRPr sz="2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3pPr>
            <a:lvl4pPr marL="0" indent="685800">
              <a:spcBef>
                <a:spcPts val="0"/>
              </a:spcBef>
              <a:buSzTx/>
              <a:buNone/>
              <a:defRPr sz="2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4pPr>
            <a:lvl5pPr marL="0" indent="914400">
              <a:spcBef>
                <a:spcPts val="0"/>
              </a:spcBef>
              <a:buSzTx/>
              <a:buNone/>
              <a:defRPr sz="2400">
                <a:solidFill>
                  <a:srgbClr val="414141"/>
                </a:solidFill>
                <a:latin typeface="Palatino"/>
                <a:ea typeface="Palatino"/>
                <a:cs typeface="Palatino"/>
                <a:sym typeface="Palatino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36" name="Número de diapositiva"/>
          <p:cNvSpPr txBox="1"/>
          <p:nvPr>
            <p:ph type="sldNum" sz="quarter" idx="2"/>
          </p:nvPr>
        </p:nvSpPr>
        <p:spPr>
          <a:xfrm>
            <a:off x="6324599" y="9258300"/>
            <a:ext cx="342901" cy="406400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>
                <a:solidFill>
                  <a:srgbClr val="4C4946"/>
                </a:solidFill>
                <a:latin typeface="Palatino"/>
                <a:ea typeface="Palatino"/>
                <a:cs typeface="Palatino"/>
                <a:sym typeface="Palatino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CDT.png"/>
          <p:cNvGrpSpPr/>
          <p:nvPr/>
        </p:nvGrpSpPr>
        <p:grpSpPr>
          <a:xfrm>
            <a:off x="9601200" y="7074275"/>
            <a:ext cx="3139441" cy="2462614"/>
            <a:chOff x="0" y="0"/>
            <a:chExt cx="3139440" cy="2462613"/>
          </a:xfrm>
        </p:grpSpPr>
        <p:pic>
          <p:nvPicPr>
            <p:cNvPr id="144" name="CDT.png" descr="CDT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3037841" cy="231021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43" name="CDT.png" descr="CDT.png"/>
            <p:cNvPicPr>
              <a:picLocks noChangeAspect="0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3139441" cy="2462614"/>
            </a:xfrm>
            <a:prstGeom prst="rect">
              <a:avLst/>
            </a:prstGeom>
            <a:effectLst/>
          </p:spPr>
        </p:pic>
      </p:grpSp>
      <p:sp>
        <p:nvSpPr>
          <p:cNvPr id="146" name="Rectángulo"/>
          <p:cNvSpPr/>
          <p:nvPr/>
        </p:nvSpPr>
        <p:spPr>
          <a:xfrm>
            <a:off x="533400" y="177800"/>
            <a:ext cx="279400" cy="9055100"/>
          </a:xfrm>
          <a:prstGeom prst="rect">
            <a:avLst/>
          </a:prstGeom>
          <a:gradFill>
            <a:gsLst>
              <a:gs pos="1036">
                <a:srgbClr val="920000"/>
              </a:gs>
              <a:gs pos="99481">
                <a:srgbClr val="FF0000"/>
              </a:gs>
            </a:gsLst>
            <a:lin ang="5400000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7" name="Rectángulo"/>
          <p:cNvSpPr/>
          <p:nvPr/>
        </p:nvSpPr>
        <p:spPr>
          <a:xfrm>
            <a:off x="304800" y="2552700"/>
            <a:ext cx="12395200" cy="279400"/>
          </a:xfrm>
          <a:prstGeom prst="rect">
            <a:avLst/>
          </a:prstGeom>
          <a:gradFill>
            <a:gsLst>
              <a:gs pos="1036">
                <a:srgbClr val="2014A4"/>
              </a:gs>
              <a:gs pos="100000">
                <a:srgbClr val="655CFF"/>
              </a:gs>
            </a:gsLst>
            <a:lin ang="299999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48" name="Texto del título"/>
          <p:cNvSpPr txBox="1"/>
          <p:nvPr>
            <p:ph type="title"/>
          </p:nvPr>
        </p:nvSpPr>
        <p:spPr>
          <a:xfrm>
            <a:off x="1257300" y="254000"/>
            <a:ext cx="10452100" cy="2438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49" name="Nivel de texto 1…"/>
          <p:cNvSpPr txBox="1"/>
          <p:nvPr>
            <p:ph type="body" idx="1"/>
          </p:nvPr>
        </p:nvSpPr>
        <p:spPr>
          <a:xfrm>
            <a:off x="1282700" y="2959100"/>
            <a:ext cx="10452100" cy="5702300"/>
          </a:xfrm>
          <a:prstGeom prst="rect">
            <a:avLst/>
          </a:prstGeom>
        </p:spPr>
        <p:txBody>
          <a:bodyPr>
            <a:noAutofit/>
          </a:bodyPr>
          <a:lstStyle>
            <a:lvl1pPr marL="8890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1pPr>
            <a:lvl2pPr marL="13335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2pPr>
            <a:lvl3pPr marL="17780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3pPr>
            <a:lvl4pPr marL="22225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4pPr>
            <a:lvl5pPr marL="26670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50" name="Número de diapositiva"/>
          <p:cNvSpPr txBox="1"/>
          <p:nvPr>
            <p:ph type="sldNum" sz="quarter" idx="2"/>
          </p:nvPr>
        </p:nvSpPr>
        <p:spPr>
          <a:xfrm>
            <a:off x="6330950" y="9283700"/>
            <a:ext cx="317500" cy="3429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CDT.png"/>
          <p:cNvGrpSpPr/>
          <p:nvPr/>
        </p:nvGrpSpPr>
        <p:grpSpPr>
          <a:xfrm>
            <a:off x="9601200" y="7074275"/>
            <a:ext cx="3139441" cy="2462614"/>
            <a:chOff x="0" y="0"/>
            <a:chExt cx="3139440" cy="2462613"/>
          </a:xfrm>
        </p:grpSpPr>
        <p:pic>
          <p:nvPicPr>
            <p:cNvPr id="158" name="CDT.png" descr="CDT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3037841" cy="231021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57" name="CDT.png" descr="CDT.png"/>
            <p:cNvPicPr>
              <a:picLocks noChangeAspect="0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3139441" cy="2462614"/>
            </a:xfrm>
            <a:prstGeom prst="rect">
              <a:avLst/>
            </a:prstGeom>
            <a:effectLst/>
          </p:spPr>
        </p:pic>
      </p:grpSp>
      <p:sp>
        <p:nvSpPr>
          <p:cNvPr id="160" name="Rectángulo"/>
          <p:cNvSpPr/>
          <p:nvPr/>
        </p:nvSpPr>
        <p:spPr>
          <a:xfrm>
            <a:off x="533400" y="177800"/>
            <a:ext cx="279400" cy="9055100"/>
          </a:xfrm>
          <a:prstGeom prst="rect">
            <a:avLst/>
          </a:prstGeom>
          <a:gradFill>
            <a:gsLst>
              <a:gs pos="1036">
                <a:srgbClr val="920000"/>
              </a:gs>
              <a:gs pos="99481">
                <a:srgbClr val="FF0000"/>
              </a:gs>
            </a:gsLst>
            <a:lin ang="5400000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1" name="Rectángulo"/>
          <p:cNvSpPr/>
          <p:nvPr/>
        </p:nvSpPr>
        <p:spPr>
          <a:xfrm>
            <a:off x="304800" y="927100"/>
            <a:ext cx="12395200" cy="279400"/>
          </a:xfrm>
          <a:prstGeom prst="rect">
            <a:avLst/>
          </a:prstGeom>
          <a:gradFill>
            <a:gsLst>
              <a:gs pos="1036">
                <a:srgbClr val="2014A4"/>
              </a:gs>
              <a:gs pos="100000">
                <a:srgbClr val="655CFF"/>
              </a:gs>
            </a:gsLst>
            <a:lin ang="299999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62" name="Nivel de texto 1…"/>
          <p:cNvSpPr txBox="1"/>
          <p:nvPr>
            <p:ph type="body" idx="1"/>
          </p:nvPr>
        </p:nvSpPr>
        <p:spPr>
          <a:xfrm>
            <a:off x="1270000" y="1422400"/>
            <a:ext cx="10452100" cy="7200900"/>
          </a:xfrm>
          <a:prstGeom prst="rect">
            <a:avLst/>
          </a:prstGeom>
        </p:spPr>
        <p:txBody>
          <a:bodyPr>
            <a:noAutofit/>
          </a:bodyPr>
          <a:lstStyle>
            <a:lvl1pPr marL="889000" indent="-571500">
              <a:spcBef>
                <a:spcPts val="48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1pPr>
            <a:lvl2pPr marL="1333500" indent="-571500">
              <a:spcBef>
                <a:spcPts val="48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2pPr>
            <a:lvl3pPr marL="1778000" indent="-571500">
              <a:spcBef>
                <a:spcPts val="48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3pPr>
            <a:lvl4pPr marL="2222500" indent="-571500">
              <a:spcBef>
                <a:spcPts val="48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4pPr>
            <a:lvl5pPr marL="2667000" indent="-571500">
              <a:spcBef>
                <a:spcPts val="48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63" name="Número de diapositiva"/>
          <p:cNvSpPr txBox="1"/>
          <p:nvPr>
            <p:ph type="sldNum" sz="quarter" idx="2"/>
          </p:nvPr>
        </p:nvSpPr>
        <p:spPr>
          <a:xfrm>
            <a:off x="6330950" y="9283700"/>
            <a:ext cx="317500" cy="3429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CDT.png"/>
          <p:cNvGrpSpPr/>
          <p:nvPr/>
        </p:nvGrpSpPr>
        <p:grpSpPr>
          <a:xfrm>
            <a:off x="10724991" y="7454507"/>
            <a:ext cx="1837850" cy="1472782"/>
            <a:chOff x="0" y="0"/>
            <a:chExt cx="1837849" cy="1472781"/>
          </a:xfrm>
        </p:grpSpPr>
        <p:pic>
          <p:nvPicPr>
            <p:cNvPr id="171" name="CDT.png" descr="CDT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1736250" cy="132038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70" name="CDT.png" descr="CDT.png"/>
            <p:cNvPicPr>
              <a:picLocks noChangeAspect="0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1837850" cy="1472782"/>
            </a:xfrm>
            <a:prstGeom prst="rect">
              <a:avLst/>
            </a:prstGeom>
            <a:effectLst/>
          </p:spPr>
        </p:pic>
      </p:grpSp>
      <p:sp>
        <p:nvSpPr>
          <p:cNvPr id="173" name="Rectángulo"/>
          <p:cNvSpPr/>
          <p:nvPr/>
        </p:nvSpPr>
        <p:spPr>
          <a:xfrm>
            <a:off x="533400" y="177800"/>
            <a:ext cx="279400" cy="9055100"/>
          </a:xfrm>
          <a:prstGeom prst="rect">
            <a:avLst/>
          </a:prstGeom>
          <a:gradFill>
            <a:gsLst>
              <a:gs pos="1036">
                <a:srgbClr val="920000"/>
              </a:gs>
              <a:gs pos="99481">
                <a:srgbClr val="FF0000"/>
              </a:gs>
            </a:gsLst>
            <a:lin ang="5400000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4" name="Rectángulo"/>
          <p:cNvSpPr/>
          <p:nvPr/>
        </p:nvSpPr>
        <p:spPr>
          <a:xfrm>
            <a:off x="304800" y="2552700"/>
            <a:ext cx="12395200" cy="279400"/>
          </a:xfrm>
          <a:prstGeom prst="rect">
            <a:avLst/>
          </a:prstGeom>
          <a:gradFill>
            <a:gsLst>
              <a:gs pos="1036">
                <a:srgbClr val="2014A4"/>
              </a:gs>
              <a:gs pos="100000">
                <a:srgbClr val="655CFF"/>
              </a:gs>
            </a:gsLst>
            <a:lin ang="299999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75" name="Texto del título"/>
          <p:cNvSpPr txBox="1"/>
          <p:nvPr>
            <p:ph type="title"/>
          </p:nvPr>
        </p:nvSpPr>
        <p:spPr>
          <a:xfrm>
            <a:off x="1257300" y="254000"/>
            <a:ext cx="10452100" cy="2438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176" name="Nivel de texto 1…"/>
          <p:cNvSpPr txBox="1"/>
          <p:nvPr>
            <p:ph type="body" idx="1"/>
          </p:nvPr>
        </p:nvSpPr>
        <p:spPr>
          <a:xfrm>
            <a:off x="1257300" y="2768600"/>
            <a:ext cx="10452100" cy="5702300"/>
          </a:xfrm>
          <a:prstGeom prst="rect">
            <a:avLst/>
          </a:prstGeom>
        </p:spPr>
        <p:txBody>
          <a:bodyPr>
            <a:noAutofit/>
          </a:bodyPr>
          <a:lstStyle>
            <a:lvl1pPr marL="8890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1pPr>
            <a:lvl2pPr marL="13335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2pPr>
            <a:lvl3pPr marL="17780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3pPr>
            <a:lvl4pPr marL="22225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4pPr>
            <a:lvl5pPr marL="2667000" indent="-571500">
              <a:spcBef>
                <a:spcPts val="2500"/>
              </a:spcBef>
              <a:buSzPct val="171000"/>
              <a:defRPr sz="3800">
                <a:latin typeface="Gill Sans"/>
                <a:ea typeface="Gill Sans"/>
                <a:cs typeface="Gill Sans"/>
                <a:sym typeface="Gill Sans"/>
              </a:defRPr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177" name="Número de diapositiva"/>
          <p:cNvSpPr txBox="1"/>
          <p:nvPr>
            <p:ph type="sldNum" sz="quarter" idx="2"/>
          </p:nvPr>
        </p:nvSpPr>
        <p:spPr>
          <a:xfrm>
            <a:off x="6330950" y="9283700"/>
            <a:ext cx="317500" cy="3429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Rectángulo"/>
          <p:cNvSpPr/>
          <p:nvPr/>
        </p:nvSpPr>
        <p:spPr>
          <a:xfrm>
            <a:off x="533400" y="177800"/>
            <a:ext cx="279400" cy="9055100"/>
          </a:xfrm>
          <a:prstGeom prst="rect">
            <a:avLst/>
          </a:prstGeom>
          <a:gradFill>
            <a:gsLst>
              <a:gs pos="1036">
                <a:srgbClr val="920000"/>
              </a:gs>
              <a:gs pos="99481">
                <a:srgbClr val="FF0000"/>
              </a:gs>
            </a:gsLst>
            <a:lin ang="5400000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5" name="Rectángulo"/>
          <p:cNvSpPr/>
          <p:nvPr/>
        </p:nvSpPr>
        <p:spPr>
          <a:xfrm>
            <a:off x="304800" y="2552700"/>
            <a:ext cx="12395200" cy="279400"/>
          </a:xfrm>
          <a:prstGeom prst="rect">
            <a:avLst/>
          </a:prstGeom>
          <a:gradFill>
            <a:gsLst>
              <a:gs pos="1036">
                <a:srgbClr val="2014A4"/>
              </a:gs>
              <a:gs pos="100000">
                <a:srgbClr val="655CFF"/>
              </a:gs>
            </a:gsLst>
            <a:lin ang="299999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186" name="Texto del título"/>
          <p:cNvSpPr txBox="1"/>
          <p:nvPr>
            <p:ph type="title"/>
          </p:nvPr>
        </p:nvSpPr>
        <p:spPr>
          <a:xfrm>
            <a:off x="1257300" y="254000"/>
            <a:ext cx="10452100" cy="2438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Texto del título</a:t>
            </a:r>
          </a:p>
        </p:txBody>
      </p:sp>
      <p:grpSp>
        <p:nvGrpSpPr>
          <p:cNvPr id="189" name="CDT.png"/>
          <p:cNvGrpSpPr/>
          <p:nvPr/>
        </p:nvGrpSpPr>
        <p:grpSpPr>
          <a:xfrm>
            <a:off x="10724991" y="7454507"/>
            <a:ext cx="1837850" cy="1472782"/>
            <a:chOff x="0" y="0"/>
            <a:chExt cx="1837849" cy="1472781"/>
          </a:xfrm>
        </p:grpSpPr>
        <p:pic>
          <p:nvPicPr>
            <p:cNvPr id="188" name="CDT.png" descr="CDT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1736250" cy="1320382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87" name="CDT.png" descr="CDT.png"/>
            <p:cNvPicPr>
              <a:picLocks noChangeAspect="0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1837850" cy="1472782"/>
            </a:xfrm>
            <a:prstGeom prst="rect">
              <a:avLst/>
            </a:prstGeom>
            <a:effectLst/>
          </p:spPr>
        </p:pic>
      </p:grpSp>
      <p:sp>
        <p:nvSpPr>
          <p:cNvPr id="190" name="Número de diapositiva"/>
          <p:cNvSpPr txBox="1"/>
          <p:nvPr>
            <p:ph type="sldNum" sz="quarter" idx="2"/>
          </p:nvPr>
        </p:nvSpPr>
        <p:spPr>
          <a:xfrm>
            <a:off x="6330950" y="9283700"/>
            <a:ext cx="317500" cy="3429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CDT.png"/>
          <p:cNvGrpSpPr/>
          <p:nvPr/>
        </p:nvGrpSpPr>
        <p:grpSpPr>
          <a:xfrm>
            <a:off x="9601200" y="7074275"/>
            <a:ext cx="3139441" cy="2462614"/>
            <a:chOff x="0" y="0"/>
            <a:chExt cx="3139440" cy="2462613"/>
          </a:xfrm>
        </p:grpSpPr>
        <p:pic>
          <p:nvPicPr>
            <p:cNvPr id="198" name="CDT.png" descr="CDT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3037841" cy="231021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97" name="CDT.png" descr="CDT.png"/>
            <p:cNvPicPr>
              <a:picLocks noChangeAspect="0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3139441" cy="2462614"/>
            </a:xfrm>
            <a:prstGeom prst="rect">
              <a:avLst/>
            </a:prstGeom>
            <a:effectLst/>
          </p:spPr>
        </p:pic>
      </p:grpSp>
      <p:sp>
        <p:nvSpPr>
          <p:cNvPr id="200" name="Rectángulo"/>
          <p:cNvSpPr/>
          <p:nvPr/>
        </p:nvSpPr>
        <p:spPr>
          <a:xfrm>
            <a:off x="533400" y="177800"/>
            <a:ext cx="279400" cy="9055100"/>
          </a:xfrm>
          <a:prstGeom prst="rect">
            <a:avLst/>
          </a:prstGeom>
          <a:gradFill>
            <a:gsLst>
              <a:gs pos="1036">
                <a:srgbClr val="920000"/>
              </a:gs>
              <a:gs pos="99481">
                <a:srgbClr val="FF0000"/>
              </a:gs>
            </a:gsLst>
            <a:lin ang="5400000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01" name="Rectángulo"/>
          <p:cNvSpPr/>
          <p:nvPr/>
        </p:nvSpPr>
        <p:spPr>
          <a:xfrm>
            <a:off x="304800" y="7099300"/>
            <a:ext cx="12395200" cy="279400"/>
          </a:xfrm>
          <a:prstGeom prst="rect">
            <a:avLst/>
          </a:prstGeom>
          <a:gradFill>
            <a:gsLst>
              <a:gs pos="1036">
                <a:srgbClr val="2014A4"/>
              </a:gs>
              <a:gs pos="100000">
                <a:srgbClr val="655CFF"/>
              </a:gs>
            </a:gsLst>
            <a:lin ang="299999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02" name="Imagen"/>
          <p:cNvSpPr/>
          <p:nvPr>
            <p:ph type="pic" sz="quarter" idx="21"/>
          </p:nvPr>
        </p:nvSpPr>
        <p:spPr>
          <a:xfrm>
            <a:off x="3454400" y="2451100"/>
            <a:ext cx="6096001" cy="3781655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03" name="Texto del título"/>
          <p:cNvSpPr txBox="1"/>
          <p:nvPr>
            <p:ph type="title"/>
          </p:nvPr>
        </p:nvSpPr>
        <p:spPr>
          <a:xfrm>
            <a:off x="1257300" y="7366000"/>
            <a:ext cx="10452100" cy="16891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204" name="Número de diapositiva"/>
          <p:cNvSpPr txBox="1"/>
          <p:nvPr>
            <p:ph type="sldNum" sz="quarter" idx="2"/>
          </p:nvPr>
        </p:nvSpPr>
        <p:spPr>
          <a:xfrm>
            <a:off x="6330950" y="9283700"/>
            <a:ext cx="317500" cy="3429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ángulo"/>
          <p:cNvSpPr/>
          <p:nvPr/>
        </p:nvSpPr>
        <p:spPr>
          <a:xfrm>
            <a:off x="533400" y="177800"/>
            <a:ext cx="279400" cy="9055100"/>
          </a:xfrm>
          <a:prstGeom prst="rect">
            <a:avLst/>
          </a:prstGeom>
          <a:gradFill>
            <a:gsLst>
              <a:gs pos="1036">
                <a:srgbClr val="920000"/>
              </a:gs>
              <a:gs pos="99481">
                <a:srgbClr val="FF0000"/>
              </a:gs>
            </a:gsLst>
            <a:lin ang="5400000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212" name="Rectángulo"/>
          <p:cNvSpPr/>
          <p:nvPr/>
        </p:nvSpPr>
        <p:spPr>
          <a:xfrm>
            <a:off x="304800" y="6515100"/>
            <a:ext cx="12395200" cy="279400"/>
          </a:xfrm>
          <a:prstGeom prst="rect">
            <a:avLst/>
          </a:prstGeom>
          <a:gradFill>
            <a:gsLst>
              <a:gs pos="1036">
                <a:srgbClr val="2014A4"/>
              </a:gs>
              <a:gs pos="100000">
                <a:srgbClr val="655CFF"/>
              </a:gs>
            </a:gsLst>
            <a:lin ang="299999"/>
          </a:gra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76200" dist="63500" dir="2700000">
              <a:srgbClr val="919191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8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grpSp>
        <p:nvGrpSpPr>
          <p:cNvPr id="215" name="CDT.png"/>
          <p:cNvGrpSpPr/>
          <p:nvPr/>
        </p:nvGrpSpPr>
        <p:grpSpPr>
          <a:xfrm>
            <a:off x="9601200" y="7074275"/>
            <a:ext cx="3139441" cy="2462614"/>
            <a:chOff x="0" y="0"/>
            <a:chExt cx="3139440" cy="2462613"/>
          </a:xfrm>
        </p:grpSpPr>
        <p:pic>
          <p:nvPicPr>
            <p:cNvPr id="214" name="CDT.png" descr="CDT.png"/>
            <p:cNvPicPr>
              <a:picLocks noChangeAspect="1"/>
            </p:cNvPicPr>
            <p:nvPr/>
          </p:nvPicPr>
          <p:blipFill>
            <a:blip r:embed="rId2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3037841" cy="2310214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13" name="CDT.png" descr="CDT.png"/>
            <p:cNvPicPr>
              <a:picLocks noChangeAspect="0"/>
            </p:cNvPicPr>
            <p:nvPr/>
          </p:nvPicPr>
          <p:blipFill>
            <a:blip r:embed="rId3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3139441" cy="2462614"/>
            </a:xfrm>
            <a:prstGeom prst="rect">
              <a:avLst/>
            </a:prstGeom>
            <a:effectLst/>
          </p:spPr>
        </p:pic>
      </p:grpSp>
      <p:sp>
        <p:nvSpPr>
          <p:cNvPr id="216" name="Texto del título"/>
          <p:cNvSpPr txBox="1"/>
          <p:nvPr>
            <p:ph type="title"/>
          </p:nvPr>
        </p:nvSpPr>
        <p:spPr>
          <a:xfrm>
            <a:off x="1257300" y="2984500"/>
            <a:ext cx="10452100" cy="381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217" name="Número de diapositiva"/>
          <p:cNvSpPr txBox="1"/>
          <p:nvPr>
            <p:ph type="sldNum" sz="quarter" idx="2"/>
          </p:nvPr>
        </p:nvSpPr>
        <p:spPr>
          <a:xfrm>
            <a:off x="6330950" y="9283700"/>
            <a:ext cx="317500" cy="342900"/>
          </a:xfrm>
          <a:prstGeom prst="rect">
            <a:avLst/>
          </a:prstGeom>
        </p:spPr>
        <p:txBody>
          <a:bodyPr/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o del título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Texto del título</a:t>
            </a:r>
          </a:p>
        </p:txBody>
      </p:sp>
      <p:sp>
        <p:nvSpPr>
          <p:cNvPr id="225" name="Nivel de texto 1…"/>
          <p:cNvSpPr txBox="1"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pic>
        <p:nvPicPr>
          <p:cNvPr id="226" name="ipn.jpg" descr="ip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347" y="142586"/>
            <a:ext cx="932188" cy="149571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escom.png" descr="esco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414931" y="48430"/>
            <a:ext cx="1589870" cy="158987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0" name="CDT.png"/>
          <p:cNvGrpSpPr/>
          <p:nvPr/>
        </p:nvGrpSpPr>
        <p:grpSpPr>
          <a:xfrm>
            <a:off x="11734800" y="8677760"/>
            <a:ext cx="1030002" cy="858431"/>
            <a:chOff x="0" y="0"/>
            <a:chExt cx="1030001" cy="858430"/>
          </a:xfrm>
        </p:grpSpPr>
        <p:pic>
          <p:nvPicPr>
            <p:cNvPr id="229" name="CDT.png" descr="CDT.png"/>
            <p:cNvPicPr>
              <a:picLocks noChangeAspect="1"/>
            </p:cNvPicPr>
            <p:nvPr/>
          </p:nvPicPr>
          <p:blipFill>
            <a:blip r:embed="rId4">
              <a:alphaModFix amt="50000"/>
              <a:extLst/>
            </a:blip>
            <a:stretch>
              <a:fillRect/>
            </a:stretch>
          </p:blipFill>
          <p:spPr>
            <a:xfrm>
              <a:off x="50800" y="38100"/>
              <a:ext cx="928402" cy="706031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228" name="CDT.png" descr="CDT.png"/>
            <p:cNvPicPr>
              <a:picLocks noChangeAspect="0"/>
            </p:cNvPicPr>
            <p:nvPr/>
          </p:nvPicPr>
          <p:blipFill>
            <a:blip r:embed="rId5">
              <a:alphaModFix amt="50000"/>
              <a:extLst/>
            </a:blip>
            <a:stretch>
              <a:fillRect/>
            </a:stretch>
          </p:blipFill>
          <p:spPr>
            <a:xfrm>
              <a:off x="0" y="0"/>
              <a:ext cx="1030002" cy="858431"/>
            </a:xfrm>
            <a:prstGeom prst="rect">
              <a:avLst/>
            </a:prstGeom>
            <a:effectLst/>
          </p:spPr>
        </p:pic>
      </p:grpSp>
      <p:sp>
        <p:nvSpPr>
          <p:cNvPr id="23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IS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Screen Shot 2016-09-21 at 11.18.14.png" descr="Screen Shot 2016-09-21 at 11.18.14.png"/>
          <p:cNvPicPr>
            <a:picLocks noChangeAspect="1"/>
          </p:cNvPicPr>
          <p:nvPr/>
        </p:nvPicPr>
        <p:blipFill>
          <a:blip r:embed="rId2">
            <a:alphaModFix amt="15756"/>
            <a:extLst/>
          </a:blip>
          <a:stretch>
            <a:fillRect/>
          </a:stretch>
        </p:blipFill>
        <p:spPr>
          <a:xfrm>
            <a:off x="0" y="1581246"/>
            <a:ext cx="13004801" cy="9228382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exto del título"/>
          <p:cNvSpPr txBox="1"/>
          <p:nvPr>
            <p:ph type="title"/>
          </p:nvPr>
        </p:nvSpPr>
        <p:spPr>
          <a:xfrm>
            <a:off x="840859" y="-173438"/>
            <a:ext cx="11099801" cy="2159001"/>
          </a:xfrm>
          <a:prstGeom prst="rect">
            <a:avLst/>
          </a:prstGeom>
        </p:spPr>
        <p:txBody>
          <a:bodyPr/>
          <a:lstStyle>
            <a:lvl1pPr>
              <a:defRPr b="1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240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41" name="Línea"/>
          <p:cNvSpPr/>
          <p:nvPr/>
        </p:nvSpPr>
        <p:spPr>
          <a:xfrm flipH="1" flipV="1">
            <a:off x="952500" y="1511299"/>
            <a:ext cx="11083063" cy="2"/>
          </a:xfrm>
          <a:prstGeom prst="line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42" name="Línea"/>
          <p:cNvSpPr/>
          <p:nvPr/>
        </p:nvSpPr>
        <p:spPr>
          <a:xfrm flipH="1" flipV="1">
            <a:off x="825421" y="1434720"/>
            <a:ext cx="11083063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pic>
        <p:nvPicPr>
          <p:cNvPr id="243" name="Screen Shot 2016-09-06 at 18.40.29.png" descr="Screen Shot 2016-09-06 at 18.40.29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3737" y="159747"/>
            <a:ext cx="1357526" cy="9635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ipn.GIF" descr="ipn.GI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702956" y="159747"/>
            <a:ext cx="698688" cy="963544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Screen Shot 2017-03-30 at 19.47.53.png" descr="Screen Shot 2017-03-30 at 19.47.5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416778" y="268456"/>
            <a:ext cx="1144603" cy="746132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roce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o del título"/>
          <p:cNvSpPr txBox="1"/>
          <p:nvPr>
            <p:ph type="title"/>
          </p:nvPr>
        </p:nvSpPr>
        <p:spPr>
          <a:xfrm>
            <a:off x="840859" y="-173438"/>
            <a:ext cx="11099801" cy="2159001"/>
          </a:xfrm>
          <a:prstGeom prst="rect">
            <a:avLst/>
          </a:prstGeom>
        </p:spPr>
        <p:txBody>
          <a:bodyPr/>
          <a:lstStyle>
            <a:lvl1pPr>
              <a:defRPr b="1" sz="6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Texto del título</a:t>
            </a:r>
          </a:p>
        </p:txBody>
      </p:sp>
      <p:sp>
        <p:nvSpPr>
          <p:cNvPr id="254" name="Nivel de texto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255" name="Línea"/>
          <p:cNvSpPr/>
          <p:nvPr/>
        </p:nvSpPr>
        <p:spPr>
          <a:xfrm flipH="1" flipV="1">
            <a:off x="952500" y="1511299"/>
            <a:ext cx="11083063" cy="2"/>
          </a:xfrm>
          <a:prstGeom prst="line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256" name="Línea"/>
          <p:cNvSpPr/>
          <p:nvPr/>
        </p:nvSpPr>
        <p:spPr>
          <a:xfrm flipH="1" flipV="1">
            <a:off x="825421" y="1434720"/>
            <a:ext cx="11083063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pic>
        <p:nvPicPr>
          <p:cNvPr id="257" name="Screen Shot 2016-09-06 at 18.40.29.png" descr="Screen Shot 2016-09-06 at 18.40.2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3634" y="324653"/>
            <a:ext cx="1357526" cy="9635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ipn.GIF" descr="ipn.G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52300" y="324653"/>
            <a:ext cx="698688" cy="9635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Screen Shot 2016-09-06 at 19.42.02.png" descr="Screen Shot 2016-09-06 at 19.42.02.png"/>
          <p:cNvPicPr>
            <a:picLocks noChangeAspect="1"/>
          </p:cNvPicPr>
          <p:nvPr/>
        </p:nvPicPr>
        <p:blipFill>
          <a:blip r:embed="rId4">
            <a:alphaModFix amt="13789"/>
            <a:extLst/>
          </a:blip>
          <a:stretch>
            <a:fillRect/>
          </a:stretch>
        </p:blipFill>
        <p:spPr>
          <a:xfrm>
            <a:off x="695978" y="2954785"/>
            <a:ext cx="11341950" cy="4536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Screen Shot 2017-03-30 at 19.47.53.png" descr="Screen Shot 2017-03-30 at 19.47.53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727403" y="324653"/>
            <a:ext cx="1213139" cy="790808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el título"/>
          <p:cNvSpPr txBox="1"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Texto del título</a:t>
            </a:r>
          </a:p>
        </p:txBody>
      </p:sp>
      <p:sp>
        <p:nvSpPr>
          <p:cNvPr id="3" name="Nivel de texto 1…"/>
          <p:cNvSpPr txBox="1"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" name="Número de diapositiva"/>
          <p:cNvSpPr txBox="1"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hyperlink" Target="https://es.wikipedia.org/wiki/Sacerdote" TargetMode="External"/><Relationship Id="rId5" Type="http://schemas.openxmlformats.org/officeDocument/2006/relationships/hyperlink" Target="https://es.wikipedia.org/wiki/Soldado" TargetMode="External"/><Relationship Id="rId6" Type="http://schemas.openxmlformats.org/officeDocument/2006/relationships/hyperlink" Target="https://es.wikipedia.org/wiki/Maestro" TargetMode="External"/><Relationship Id="rId7" Type="http://schemas.openxmlformats.org/officeDocument/2006/relationships/hyperlink" Target="https://es.wikipedia.org/wiki/Cultura_mexica" TargetMode="External"/><Relationship Id="rId8" Type="http://schemas.openxmlformats.org/officeDocument/2006/relationships/hyperlink" Target="https://es.wikipedia.org/wiki/Historia" TargetMode="External"/><Relationship Id="rId9" Type="http://schemas.openxmlformats.org/officeDocument/2006/relationships/hyperlink" Target="https://es.wikipedia.org/wiki/Astronom%C3%ADa" TargetMode="External"/><Relationship Id="rId10" Type="http://schemas.openxmlformats.org/officeDocument/2006/relationships/hyperlink" Target="https://es.wikipedia.org/wiki/Ciencia" TargetMode="External"/><Relationship Id="rId11" Type="http://schemas.openxmlformats.org/officeDocument/2006/relationships/hyperlink" Target="https://es.wikipedia.org/wiki/M%C3%BAsica" TargetMode="External"/><Relationship Id="rId12" Type="http://schemas.openxmlformats.org/officeDocument/2006/relationships/hyperlink" Target="https://es.wikipedia.org/wiki/Filosof%C3%ADa" TargetMode="External"/><Relationship Id="rId13" Type="http://schemas.openxmlformats.org/officeDocument/2006/relationships/hyperlink" Target="https://es.wikipedia.org/wiki/Religi%C3%B3n" TargetMode="External"/><Relationship Id="rId14" Type="http://schemas.openxmlformats.org/officeDocument/2006/relationships/hyperlink" Target="https://es.wikipedia.org/wiki/Econom%C3%ADa" TargetMode="External"/><Relationship Id="rId15" Type="http://schemas.openxmlformats.org/officeDocument/2006/relationships/hyperlink" Target="https://es.wikipedia.org/wiki/Gobierno" TargetMode="External"/><Relationship Id="rId16" Type="http://schemas.openxmlformats.org/officeDocument/2006/relationships/hyperlink" Target="https://es.wikipedia.org/wiki/Disciplina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image" Target="../media/image1.tif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Coordinación de Desarrollo Tecnológico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 defTabSz="578358">
              <a:defRPr sz="7919"/>
            </a:lvl1pPr>
          </a:lstStyle>
          <a:p>
            <a:pPr/>
            <a:r>
              <a:t>Coordinación de Desarrollo Tecnológico</a:t>
            </a:r>
          </a:p>
        </p:txBody>
      </p:sp>
      <p:sp>
        <p:nvSpPr>
          <p:cNvPr id="271" name="Escuela Superior de Cómputo…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Escuela Superior de Cómputo</a:t>
            </a:r>
          </a:p>
          <a:p>
            <a:pPr/>
            <a:r>
              <a:t>Instituto Politécnico Nacional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Misió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Misión</a:t>
            </a:r>
          </a:p>
        </p:txBody>
      </p:sp>
      <p:sp>
        <p:nvSpPr>
          <p:cNvPr id="274" name="Somos una organización politécnica que vincula la academia con la industria, comprometida con la generación de soluciones de TI y procesos, que ayuden a cumplir los objetivos de nuestros clientes, mediante la aplicación de resultados de investigación y 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algn="just"/>
          </a:lstStyle>
          <a:p>
            <a:pPr/>
            <a:r>
              <a:t>Somos una organización politécnica que vincula la academia con la industria, comprometida con la generación de soluciones de TI y procesos, que ayuden a cumplir los objetivos de nuestros clientes, mediante la aplicación de resultados de investigación y colaboración de investigadores, especialistas y alumnos del IPN.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Visió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Visión</a:t>
            </a:r>
          </a:p>
        </p:txBody>
      </p:sp>
      <p:sp>
        <p:nvSpPr>
          <p:cNvPr id="277" name="En el 2024 ser la consultora en TI y reingeniería de procesos del IPN, líder en la industria e instituciones académicas del ramo, mediante la generación de metodologías y herramientas derivadas del trabajo de investigación del IPN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algn="just"/>
          </a:lstStyle>
          <a:p>
            <a:pPr/>
            <a:r>
              <a:t>En el 2024 ser la consultora en TI y reingeniería de procesos del IPN, líder en la industria e instituciones académicas del ramo, mediante la generación de metodologías y herramientas derivadas del trabajo de investigación del IPN.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Objetiv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Objetivo</a:t>
            </a:r>
          </a:p>
        </p:txBody>
      </p:sp>
      <p:sp>
        <p:nvSpPr>
          <p:cNvPr id="280" name="Vincular a la ESCOM con el sector público y privado proveyendo soluciones con tecnología de punta, para que la comunidad estudiantil y académica ponga sus conocimientos y experiencia al servicio de la patria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algn="just"/>
          </a:lstStyle>
          <a:p>
            <a:pPr/>
            <a:r>
              <a:t>Vincular a la ESCOM con el sector público y privado proveyendo soluciones con tecnología de punta, para que la comunidad estudiantil y académica ponga sus conocimientos y experiencia al servicio de la patria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Valor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Valores</a:t>
            </a:r>
          </a:p>
        </p:txBody>
      </p:sp>
      <p:sp>
        <p:nvSpPr>
          <p:cNvPr id="285" name="Honestidad: Somos honestos en la relación con nuestros socios comerciale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Honestidad:</a:t>
            </a:r>
            <a:r>
              <a:t> Somos honestos en la relación con nuestros socios comerciales. </a:t>
            </a:r>
          </a:p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Compromiso:</a:t>
            </a:r>
            <a:r>
              <a:t> Nuestro principal compromiso es que nuestros socios comerciales logren sus objetivos.</a:t>
            </a:r>
          </a:p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Responsabilidad:</a:t>
            </a:r>
            <a:r>
              <a:t> Respondemos por las soluciones que generamos y ponemos especial cuidado y atención en lo que hacemos.</a:t>
            </a:r>
          </a:p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Calidad:</a:t>
            </a:r>
            <a:r>
              <a:t> Logramos la calidad de nuestros productos y servicios mediante la aplicación de parámetros y metodologías orientadas al cumplimiento de las especificaciones acordadas.</a:t>
            </a:r>
          </a:p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Superación:</a:t>
            </a:r>
            <a:r>
              <a:t> Aplicamos la mejora continua mediante un modelo de madurez enfocado a proyectos.</a:t>
            </a:r>
          </a:p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Respeto:</a:t>
            </a:r>
            <a:r>
              <a:t> Reconocemos los derechos y virtudes de nuestros socios comerciales y colaboradores con dignidad, dándoles a cada quién su valor mediante un trato atento y respetuoso.</a:t>
            </a:r>
          </a:p>
          <a:p>
            <a:pPr marL="293370" indent="-293370" algn="just" defTabSz="385572">
              <a:spcBef>
                <a:spcPts val="1500"/>
              </a:spcBef>
              <a:defRPr sz="2376"/>
            </a:pPr>
            <a:r>
              <a:rPr b="1">
                <a:latin typeface="Helvetica"/>
                <a:ea typeface="Helvetica"/>
                <a:cs typeface="Helvetica"/>
                <a:sym typeface="Helvetica"/>
              </a:rPr>
              <a:t>Congruencia:</a:t>
            </a:r>
            <a:r>
              <a:t> Buscamos estar alineados entre lo que decimos y hacemos.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olítica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Políticas</a:t>
            </a:r>
          </a:p>
        </p:txBody>
      </p:sp>
      <p:sp>
        <p:nvSpPr>
          <p:cNvPr id="288" name="Confiamos en los participantes del los proyecto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93370" indent="-293370" defTabSz="385572">
              <a:spcBef>
                <a:spcPts val="2700"/>
              </a:spcBef>
              <a:defRPr sz="2376"/>
            </a:pPr>
            <a:r>
              <a:t>Confiamos en los participantes del los proyectos. </a:t>
            </a:r>
          </a:p>
          <a:p>
            <a:pPr marL="293370" indent="-293370" defTabSz="385572">
              <a:spcBef>
                <a:spcPts val="2700"/>
              </a:spcBef>
              <a:defRPr sz="2376"/>
            </a:pPr>
            <a:r>
              <a:t>Se habilitan reglas cuando se considera necesario.</a:t>
            </a:r>
          </a:p>
          <a:p>
            <a:pPr marL="293370" indent="-293370" defTabSz="385572">
              <a:spcBef>
                <a:spcPts val="2700"/>
              </a:spcBef>
              <a:defRPr sz="2376"/>
            </a:pPr>
            <a:r>
              <a:t>Somos un equipo de trabajo:</a:t>
            </a:r>
          </a:p>
          <a:p>
            <a:pPr lvl="1" marL="586740" indent="-293370" defTabSz="385572">
              <a:spcBef>
                <a:spcPts val="2700"/>
              </a:spcBef>
              <a:defRPr sz="2376"/>
            </a:pPr>
            <a:r>
              <a:t> Compartimos un objetivo</a:t>
            </a:r>
          </a:p>
          <a:p>
            <a:pPr lvl="1" marL="586740" indent="-293370" defTabSz="385572">
              <a:spcBef>
                <a:spcPts val="2700"/>
              </a:spcBef>
              <a:defRPr sz="2376"/>
            </a:pPr>
            <a:r>
              <a:t>Todos tenemos algo que aportar</a:t>
            </a:r>
          </a:p>
          <a:p>
            <a:pPr lvl="1" marL="586740" indent="-293370" defTabSz="385572">
              <a:spcBef>
                <a:spcPts val="2700"/>
              </a:spcBef>
              <a:defRPr sz="2376"/>
            </a:pPr>
            <a:r>
              <a:t>Todos aprendemos de todos y todos cometemos errores.</a:t>
            </a:r>
          </a:p>
          <a:p>
            <a:pPr marL="293370" indent="-293370" defTabSz="385572">
              <a:spcBef>
                <a:spcPts val="2700"/>
              </a:spcBef>
              <a:defRPr sz="2376"/>
            </a:pPr>
            <a:r>
              <a:t>Puntualidad en todas las actividades.</a:t>
            </a:r>
          </a:p>
          <a:p>
            <a:pPr marL="293370" indent="-293370" defTabSz="385572">
              <a:spcBef>
                <a:spcPts val="2700"/>
              </a:spcBef>
              <a:defRPr sz="2376"/>
            </a:pPr>
            <a:r>
              <a:t>No se trabaja </a:t>
            </a:r>
          </a:p>
          <a:p>
            <a:pPr marL="293370" indent="-293370" defTabSz="385572">
              <a:spcBef>
                <a:spcPts val="2700"/>
              </a:spcBef>
              <a:defRPr sz="2376"/>
            </a:pPr>
            <a:r>
              <a:t>Reunión que no entrega minuta, no se considera realizada.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Screen Shot 2017-03-30 at 19.47.53.png" descr="Screen Shot 2017-03-30 at 19.47.53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92644" y="1638300"/>
            <a:ext cx="5435601" cy="3543300"/>
          </a:xfrm>
          <a:prstGeom prst="rect">
            <a:avLst/>
          </a:prstGeom>
          <a:ln w="12700">
            <a:miter lim="400000"/>
          </a:ln>
        </p:spPr>
      </p:pic>
      <p:sp>
        <p:nvSpPr>
          <p:cNvPr id="291" name="Del Náhuatl casa, morador, lugar.…"/>
          <p:cNvSpPr txBox="1"/>
          <p:nvPr>
            <p:ph type="title"/>
          </p:nvPr>
        </p:nvSpPr>
        <p:spPr>
          <a:xfrm>
            <a:off x="615441" y="5406290"/>
            <a:ext cx="11119360" cy="4129901"/>
          </a:xfrm>
          <a:prstGeom prst="rect">
            <a:avLst/>
          </a:prstGeom>
        </p:spPr>
        <p:txBody>
          <a:bodyPr/>
          <a:lstStyle/>
          <a:p>
            <a:pPr algn="just" defTabSz="245363">
              <a:defRPr b="1" sz="3359">
                <a:latin typeface="Helvetica"/>
                <a:ea typeface="Helvetica"/>
                <a:cs typeface="Helvetica"/>
                <a:sym typeface="Helvetica"/>
              </a:defRPr>
            </a:pPr>
            <a:r>
              <a:t>Del Náhuatl casa, morador, lugar. </a:t>
            </a:r>
          </a:p>
          <a:p>
            <a:pPr algn="just" defTabSz="245363">
              <a:defRPr sz="3359"/>
            </a:pPr>
            <a:r>
              <a:t>En esta institución se les entrenaba para ser </a:t>
            </a:r>
            <a:r>
              <a:rPr>
                <a:solidFill>
                  <a:srgbClr val="0645AD"/>
                </a:solidFill>
                <a:hlinkClick r:id="rId4" invalidUrl="" action="" tgtFrame="" tooltip="" history="1" highlightClick="0" endSnd="0"/>
              </a:rPr>
              <a:t>sacerdotes</a:t>
            </a:r>
            <a:r>
              <a:t>, </a:t>
            </a:r>
            <a:r>
              <a:rPr>
                <a:solidFill>
                  <a:srgbClr val="0645AD"/>
                </a:solidFill>
                <a:hlinkClick r:id="rId5" invalidUrl="" action="" tgtFrame="" tooltip="" history="1" highlightClick="0" endSnd="0"/>
              </a:rPr>
              <a:t>guerreros</a:t>
            </a:r>
            <a:r>
              <a:t> de la élite, jueces, </a:t>
            </a:r>
            <a:r>
              <a:rPr>
                <a:solidFill>
                  <a:srgbClr val="0645AD"/>
                </a:solidFill>
                <a:hlinkClick r:id="rId6" invalidUrl="" action="" tgtFrame="" tooltip="" history="1" highlightClick="0" endSnd="0"/>
              </a:rPr>
              <a:t>maestros</a:t>
            </a:r>
            <a:r>
              <a:t> o </a:t>
            </a:r>
            <a:r>
              <a:rPr>
                <a:solidFill>
                  <a:srgbClr val="0645AD"/>
                </a:solidFill>
                <a:hlinkClick r:id="rId7" invalidUrl="" action="" tgtFrame="" tooltip="" history="1" highlightClick="0" endSnd="0"/>
              </a:rPr>
              <a:t>gobernantes</a:t>
            </a:r>
            <a:r>
              <a:t>, educándolos en </a:t>
            </a:r>
            <a:r>
              <a:rPr>
                <a:solidFill>
                  <a:srgbClr val="0645AD"/>
                </a:solidFill>
                <a:hlinkClick r:id="rId8" invalidUrl="" action="" tgtFrame="" tooltip="" history="1" highlightClick="0" endSnd="0"/>
              </a:rPr>
              <a:t>historia</a:t>
            </a:r>
            <a:r>
              <a:t>, </a:t>
            </a:r>
            <a:r>
              <a:rPr>
                <a:solidFill>
                  <a:srgbClr val="0645AD"/>
                </a:solidFill>
                <a:hlinkClick r:id="rId9" invalidUrl="" action="" tgtFrame="" tooltip="" history="1" highlightClick="0" endSnd="0"/>
              </a:rPr>
              <a:t>astronomía</a:t>
            </a:r>
            <a:r>
              <a:t> y otras </a:t>
            </a:r>
            <a:r>
              <a:rPr>
                <a:solidFill>
                  <a:srgbClr val="0645AD"/>
                </a:solidFill>
                <a:hlinkClick r:id="rId10" invalidUrl="" action="" tgtFrame="" tooltip="" history="1" highlightClick="0" endSnd="0"/>
              </a:rPr>
              <a:t>ciencias</a:t>
            </a:r>
            <a:r>
              <a:t>, la medición del tiempo, </a:t>
            </a:r>
            <a:r>
              <a:rPr>
                <a:solidFill>
                  <a:srgbClr val="0645AD"/>
                </a:solidFill>
                <a:hlinkClick r:id="rId11" invalidUrl="" action="" tgtFrame="" tooltip="" history="1" highlightClick="0" endSnd="0"/>
              </a:rPr>
              <a:t>música</a:t>
            </a:r>
            <a:r>
              <a:t> y </a:t>
            </a:r>
            <a:r>
              <a:rPr>
                <a:solidFill>
                  <a:srgbClr val="0645AD"/>
                </a:solidFill>
                <a:hlinkClick r:id="rId12" invalidUrl="" action="" tgtFrame="" tooltip="" history="1" highlightClick="0" endSnd="0"/>
              </a:rPr>
              <a:t>filosofía</a:t>
            </a:r>
            <a:r>
              <a:t>, </a:t>
            </a:r>
            <a:r>
              <a:rPr>
                <a:solidFill>
                  <a:srgbClr val="0645AD"/>
                </a:solidFill>
                <a:hlinkClick r:id="rId13" invalidUrl="" action="" tgtFrame="" tooltip="" history="1" highlightClick="0" endSnd="0"/>
              </a:rPr>
              <a:t>religión</a:t>
            </a:r>
            <a:r>
              <a:t>, hábitos de limpieza, cuestiones de </a:t>
            </a:r>
            <a:r>
              <a:rPr>
                <a:solidFill>
                  <a:srgbClr val="0645AD"/>
                </a:solidFill>
                <a:hlinkClick r:id="rId14" invalidUrl="" action="" tgtFrame="" tooltip="" history="1" highlightClick="0" endSnd="0"/>
              </a:rPr>
              <a:t>economía</a:t>
            </a:r>
            <a:r>
              <a:t> y </a:t>
            </a:r>
            <a:r>
              <a:rPr>
                <a:solidFill>
                  <a:srgbClr val="0645AD"/>
                </a:solidFill>
                <a:hlinkClick r:id="rId15" invalidUrl="" action="" tgtFrame="" tooltip="" history="1" highlightClick="0" endSnd="0"/>
              </a:rPr>
              <a:t>gobierno</a:t>
            </a:r>
            <a:r>
              <a:t>, y sobre todo, </a:t>
            </a:r>
            <a:r>
              <a:rPr>
                <a:solidFill>
                  <a:srgbClr val="0645AD"/>
                </a:solidFill>
                <a:hlinkClick r:id="rId16" invalidUrl="" action="" tgtFrame="" tooltip="" history="1" highlightClick="0" endSnd="0"/>
              </a:rPr>
              <a:t>disciplina</a:t>
            </a:r>
            <a:r>
              <a:t> y valores morales.</a:t>
            </a:r>
          </a:p>
        </p:txBody>
      </p:sp>
      <p:sp>
        <p:nvSpPr>
          <p:cNvPr id="292" name="Calmécac"/>
          <p:cNvSpPr txBox="1"/>
          <p:nvPr/>
        </p:nvSpPr>
        <p:spPr>
          <a:xfrm>
            <a:off x="1712633" y="548721"/>
            <a:ext cx="9579534" cy="1089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defTabSz="473201">
              <a:defRPr sz="6480"/>
            </a:lvl1pPr>
          </a:lstStyle>
          <a:p>
            <a:pPr/>
            <a:r>
              <a:t>Calmécac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Objetiv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Objetivos</a:t>
            </a:r>
          </a:p>
        </p:txBody>
      </p:sp>
      <p:sp>
        <p:nvSpPr>
          <p:cNvPr id="297" name="Fortalecer los procesos actuales de operación.…"/>
          <p:cNvSpPr txBox="1"/>
          <p:nvPr>
            <p:ph type="body" idx="1"/>
          </p:nvPr>
        </p:nvSpPr>
        <p:spPr>
          <a:xfrm>
            <a:off x="817052" y="1734404"/>
            <a:ext cx="11099801" cy="6286501"/>
          </a:xfrm>
          <a:prstGeom prst="rect">
            <a:avLst/>
          </a:prstGeom>
        </p:spPr>
        <p:txBody>
          <a:bodyPr/>
          <a:lstStyle/>
          <a:p>
            <a:pPr algn="just"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t>Fortalecer los procesos actuales de operación.</a:t>
            </a:r>
          </a:p>
          <a:p>
            <a:pPr algn="just"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t>Construir Calmécac el cual debe soportar: Interoperabilidad, Normatividad y Satisfacer las necesidades de las UA’s.</a:t>
            </a:r>
          </a:p>
          <a:p>
            <a:pPr algn="just">
              <a:defRPr b="1">
                <a:latin typeface="Helvetica"/>
                <a:ea typeface="Helvetica"/>
                <a:cs typeface="Helvetica"/>
                <a:sym typeface="Helvetica"/>
              </a:defRPr>
            </a:pPr>
            <a:r>
              <a:t>Puesta en producción del Calmécac.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prism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Interoperabilida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Interoperabilidad</a:t>
            </a:r>
          </a:p>
        </p:txBody>
      </p:sp>
      <p:sp>
        <p:nvSpPr>
          <p:cNvPr id="300" name="Calmécac"/>
          <p:cNvSpPr/>
          <p:nvPr/>
        </p:nvSpPr>
        <p:spPr>
          <a:xfrm>
            <a:off x="514178" y="4359721"/>
            <a:ext cx="11705550" cy="1726909"/>
          </a:xfrm>
          <a:prstGeom prst="leftRightArrow">
            <a:avLst>
              <a:gd name="adj1" fmla="val 69434"/>
              <a:gd name="adj2" fmla="val 67814"/>
            </a:avLst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47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Calmécac</a:t>
            </a:r>
          </a:p>
        </p:txBody>
      </p:sp>
      <p:sp>
        <p:nvSpPr>
          <p:cNvPr id="301" name="Becas"/>
          <p:cNvSpPr/>
          <p:nvPr/>
        </p:nvSpPr>
        <p:spPr>
          <a:xfrm>
            <a:off x="952500" y="1734404"/>
            <a:ext cx="1270001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Becas</a:t>
            </a:r>
          </a:p>
        </p:txBody>
      </p:sp>
      <p:sp>
        <p:nvSpPr>
          <p:cNvPr id="302" name="Dictámenes"/>
          <p:cNvSpPr/>
          <p:nvPr/>
        </p:nvSpPr>
        <p:spPr>
          <a:xfrm>
            <a:off x="3083301" y="1734404"/>
            <a:ext cx="1968688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Dictámenes</a:t>
            </a:r>
          </a:p>
        </p:txBody>
      </p:sp>
      <p:sp>
        <p:nvSpPr>
          <p:cNvPr id="303" name="Movilidad"/>
          <p:cNvSpPr/>
          <p:nvPr/>
        </p:nvSpPr>
        <p:spPr>
          <a:xfrm>
            <a:off x="5636877" y="1734404"/>
            <a:ext cx="1823752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Movilidad</a:t>
            </a:r>
          </a:p>
        </p:txBody>
      </p:sp>
      <p:sp>
        <p:nvSpPr>
          <p:cNvPr id="304" name="Flexibilidad"/>
          <p:cNvSpPr/>
          <p:nvPr/>
        </p:nvSpPr>
        <p:spPr>
          <a:xfrm>
            <a:off x="8190454" y="1734404"/>
            <a:ext cx="1823751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Flexibilidad</a:t>
            </a:r>
          </a:p>
        </p:txBody>
      </p:sp>
      <p:sp>
        <p:nvSpPr>
          <p:cNvPr id="305" name="Servicio Social"/>
          <p:cNvSpPr/>
          <p:nvPr/>
        </p:nvSpPr>
        <p:spPr>
          <a:xfrm>
            <a:off x="10875005" y="1734404"/>
            <a:ext cx="1823752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Servicio Social</a:t>
            </a:r>
          </a:p>
        </p:txBody>
      </p:sp>
      <p:sp>
        <p:nvSpPr>
          <p:cNvPr id="306" name="Estructura docente"/>
          <p:cNvSpPr/>
          <p:nvPr/>
        </p:nvSpPr>
        <p:spPr>
          <a:xfrm>
            <a:off x="603156" y="7644303"/>
            <a:ext cx="1968688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Estructura docente</a:t>
            </a:r>
          </a:p>
        </p:txBody>
      </p:sp>
      <p:sp>
        <p:nvSpPr>
          <p:cNvPr id="307" name="Estadísticas"/>
          <p:cNvSpPr/>
          <p:nvPr/>
        </p:nvSpPr>
        <p:spPr>
          <a:xfrm>
            <a:off x="3454622" y="7644303"/>
            <a:ext cx="1968689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Estadísticas</a:t>
            </a:r>
          </a:p>
        </p:txBody>
      </p:sp>
      <p:sp>
        <p:nvSpPr>
          <p:cNvPr id="308" name="Prácticas Profesionales"/>
          <p:cNvSpPr/>
          <p:nvPr/>
        </p:nvSpPr>
        <p:spPr>
          <a:xfrm>
            <a:off x="6943731" y="7644303"/>
            <a:ext cx="2152249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Prácticas Profesionales</a:t>
            </a:r>
          </a:p>
        </p:txBody>
      </p:sp>
      <p:sp>
        <p:nvSpPr>
          <p:cNvPr id="309" name="Servicio Médico"/>
          <p:cNvSpPr/>
          <p:nvPr/>
        </p:nvSpPr>
        <p:spPr>
          <a:xfrm>
            <a:off x="10432839" y="7644303"/>
            <a:ext cx="1968689" cy="1270001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Servicio Médico</a:t>
            </a:r>
          </a:p>
        </p:txBody>
      </p:sp>
      <p:sp>
        <p:nvSpPr>
          <p:cNvPr id="310" name="Flecha doble"/>
          <p:cNvSpPr/>
          <p:nvPr/>
        </p:nvSpPr>
        <p:spPr>
          <a:xfrm rot="16200000">
            <a:off x="10743472" y="3618046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1" name="Flecha doble"/>
          <p:cNvSpPr/>
          <p:nvPr/>
        </p:nvSpPr>
        <p:spPr>
          <a:xfrm rot="16200000">
            <a:off x="8138609" y="3618046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2" name="Flecha doble"/>
          <p:cNvSpPr/>
          <p:nvPr/>
        </p:nvSpPr>
        <p:spPr>
          <a:xfrm rot="16200000">
            <a:off x="5692259" y="3618046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3" name="Flecha doble"/>
          <p:cNvSpPr/>
          <p:nvPr/>
        </p:nvSpPr>
        <p:spPr>
          <a:xfrm rot="16200000">
            <a:off x="3245910" y="3671763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4" name="Flecha doble"/>
          <p:cNvSpPr/>
          <p:nvPr/>
        </p:nvSpPr>
        <p:spPr>
          <a:xfrm rot="16200000">
            <a:off x="1197982" y="3618046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5" name="Flecha doble"/>
          <p:cNvSpPr/>
          <p:nvPr/>
        </p:nvSpPr>
        <p:spPr>
          <a:xfrm rot="16200000">
            <a:off x="10718683" y="6652392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6" name="Flecha doble"/>
          <p:cNvSpPr/>
          <p:nvPr/>
        </p:nvSpPr>
        <p:spPr>
          <a:xfrm rot="16200000">
            <a:off x="7220384" y="6556155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7" name="Flecha doble"/>
          <p:cNvSpPr/>
          <p:nvPr/>
        </p:nvSpPr>
        <p:spPr>
          <a:xfrm rot="16200000">
            <a:off x="3722084" y="6617443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318" name="Flecha doble"/>
          <p:cNvSpPr/>
          <p:nvPr/>
        </p:nvSpPr>
        <p:spPr>
          <a:xfrm rot="16200000">
            <a:off x="895707" y="6556155"/>
            <a:ext cx="1397001" cy="502269"/>
          </a:xfrm>
          <a:prstGeom prst="leftRightArrow">
            <a:avLst>
              <a:gd name="adj1" fmla="val 47582"/>
              <a:gd name="adj2" fmla="val 56576"/>
            </a:avLst>
          </a:prstGeom>
          <a:solidFill>
            <a:schemeClr val="accent5">
              <a:hueOff val="-522602"/>
              <a:satOff val="-6700"/>
              <a:lumOff val="-22320"/>
            </a:schemeClr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24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Implantación"/>
          <p:cNvSpPr/>
          <p:nvPr/>
        </p:nvSpPr>
        <p:spPr>
          <a:xfrm>
            <a:off x="9639300" y="2578100"/>
            <a:ext cx="3327400" cy="1282700"/>
          </a:xfrm>
          <a:prstGeom prst="rightArrow">
            <a:avLst>
              <a:gd name="adj1" fmla="val 58000"/>
              <a:gd name="adj2" fmla="val 49505"/>
            </a:avLst>
          </a:prstGeom>
          <a:solidFill>
            <a:srgbClr val="FFFFFF"/>
          </a:solidFill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39700" tIns="139700" rIns="139700" bIns="139700" anchor="ctr"/>
          <a:lstStyle>
            <a:lvl1pPr marR="557276" algn="r"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Implantación</a:t>
            </a:r>
          </a:p>
        </p:txBody>
      </p:sp>
      <p:sp>
        <p:nvSpPr>
          <p:cNvPr id="323" name="Fortalecimiento del Proceso"/>
          <p:cNvSpPr txBox="1"/>
          <p:nvPr>
            <p:ph type="title"/>
          </p:nvPr>
        </p:nvSpPr>
        <p:spPr>
          <a:xfrm>
            <a:off x="952500" y="-26912"/>
            <a:ext cx="9600095" cy="1461633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Fortalecimiento del Proceso</a:t>
            </a:r>
          </a:p>
        </p:txBody>
      </p:sp>
      <p:sp>
        <p:nvSpPr>
          <p:cNvPr id="324" name="Fortalecimiento"/>
          <p:cNvSpPr/>
          <p:nvPr/>
        </p:nvSpPr>
        <p:spPr>
          <a:xfrm>
            <a:off x="6459128" y="2578100"/>
            <a:ext cx="3327401" cy="1282700"/>
          </a:xfrm>
          <a:prstGeom prst="rightArrow">
            <a:avLst>
              <a:gd name="adj1" fmla="val 58000"/>
              <a:gd name="adj2" fmla="val 49505"/>
            </a:avLst>
          </a:prstGeom>
          <a:solidFill>
            <a:srgbClr val="FFFFFF"/>
          </a:solidFill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39700" tIns="139700" rIns="139700" bIns="139700" anchor="ctr"/>
          <a:lstStyle>
            <a:lvl1pPr marR="557276" algn="r"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Fortalecimiento</a:t>
            </a:r>
          </a:p>
        </p:txBody>
      </p:sp>
      <p:sp>
        <p:nvSpPr>
          <p:cNvPr id="325" name="Análisis"/>
          <p:cNvSpPr/>
          <p:nvPr/>
        </p:nvSpPr>
        <p:spPr>
          <a:xfrm>
            <a:off x="3195228" y="2578100"/>
            <a:ext cx="3327401" cy="1282700"/>
          </a:xfrm>
          <a:prstGeom prst="rightArrow">
            <a:avLst>
              <a:gd name="adj1" fmla="val 58000"/>
              <a:gd name="adj2" fmla="val 49505"/>
            </a:avLst>
          </a:prstGeom>
          <a:solidFill>
            <a:srgbClr val="FFFFFF"/>
          </a:solidFill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39700" tIns="139700" rIns="139700" bIns="139700" anchor="ctr"/>
          <a:lstStyle>
            <a:lvl1pPr marR="583183" algn="r"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Análisis</a:t>
            </a:r>
          </a:p>
        </p:txBody>
      </p:sp>
      <p:sp>
        <p:nvSpPr>
          <p:cNvPr id="326" name="Inicial"/>
          <p:cNvSpPr/>
          <p:nvPr/>
        </p:nvSpPr>
        <p:spPr>
          <a:xfrm>
            <a:off x="88900" y="2578100"/>
            <a:ext cx="3302000" cy="1282700"/>
          </a:xfrm>
          <a:prstGeom prst="rightArrow">
            <a:avLst>
              <a:gd name="adj1" fmla="val 58000"/>
              <a:gd name="adj2" fmla="val 49505"/>
            </a:avLst>
          </a:prstGeom>
          <a:solidFill>
            <a:srgbClr val="FFFFFF"/>
          </a:solidFill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39700" tIns="139700" rIns="139700" bIns="139700" anchor="ctr"/>
          <a:lstStyle>
            <a:lvl1pPr marR="479044" algn="r">
              <a:defRPr b="1" sz="2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Inicial</a:t>
            </a:r>
          </a:p>
        </p:txBody>
      </p:sp>
      <p:sp>
        <p:nvSpPr>
          <p:cNvPr id="327" name="Trabajar con todos los involucrados del proceso.…"/>
          <p:cNvSpPr txBox="1"/>
          <p:nvPr/>
        </p:nvSpPr>
        <p:spPr>
          <a:xfrm>
            <a:off x="88900" y="3632200"/>
            <a:ext cx="32385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15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Trabajar con todos los involucrados del proceso.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Verificar propósito y objetivos.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Revisar el ambiente de trabajo.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Comprender los riesgos asociados con el proceso actual.</a:t>
            </a:r>
          </a:p>
        </p:txBody>
      </p:sp>
      <p:sp>
        <p:nvSpPr>
          <p:cNvPr id="328" name="Revisar el proceso a detalle.…"/>
          <p:cNvSpPr txBox="1"/>
          <p:nvPr/>
        </p:nvSpPr>
        <p:spPr>
          <a:xfrm>
            <a:off x="3321050" y="3632200"/>
            <a:ext cx="32385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15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Revisar el proceso a detalle.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Identificar y ponderar las áreas de oportunidad.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Determinar las políticas y estrategias a aplicar. </a:t>
            </a:r>
          </a:p>
        </p:txBody>
      </p:sp>
      <p:sp>
        <p:nvSpPr>
          <p:cNvPr id="329" name="Diseñar el nuevo proceso.…"/>
          <p:cNvSpPr txBox="1"/>
          <p:nvPr/>
        </p:nvSpPr>
        <p:spPr>
          <a:xfrm>
            <a:off x="6553200" y="3632200"/>
            <a:ext cx="32385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15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Diseñar el nuevo proceso.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Definir y diseñar los nuevos sistemas de información.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</a:p>
        </p:txBody>
      </p:sp>
      <p:sp>
        <p:nvSpPr>
          <p:cNvPr id="330" name="Definición del plan de adopción del nuevo proceso.…"/>
          <p:cNvSpPr txBox="1"/>
          <p:nvPr/>
        </p:nvSpPr>
        <p:spPr>
          <a:xfrm>
            <a:off x="9671050" y="3632200"/>
            <a:ext cx="3238500" cy="492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15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Definición del plan de adopción del nuevo proceso.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Pilotaje de la puesta en producción del proceso.</a:t>
            </a:r>
          </a:p>
          <a:p>
            <a:pPr lvl="1" marL="317500" indent="-254000" algn="l">
              <a:spcBef>
                <a:spcPts val="2400"/>
              </a:spcBef>
              <a:buClr>
                <a:srgbClr val="941100"/>
              </a:buClr>
              <a:buSzPct val="100000"/>
              <a:buFont typeface="Lucida Grande"/>
              <a:buChar char="✓"/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Evaluación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3" name="Agrupar"/>
          <p:cNvGrpSpPr/>
          <p:nvPr/>
        </p:nvGrpSpPr>
        <p:grpSpPr>
          <a:xfrm>
            <a:off x="198377" y="2475089"/>
            <a:ext cx="12608046" cy="3694761"/>
            <a:chOff x="0" y="0"/>
            <a:chExt cx="12608045" cy="3694760"/>
          </a:xfrm>
        </p:grpSpPr>
        <p:sp>
          <p:nvSpPr>
            <p:cNvPr id="334" name="Construcción del procedimiento y Lineamientos para la interacción con el Calmécac…"/>
            <p:cNvSpPr/>
            <p:nvPr/>
          </p:nvSpPr>
          <p:spPr>
            <a:xfrm>
              <a:off x="812665" y="0"/>
              <a:ext cx="11795381" cy="3694761"/>
            </a:xfrm>
            <a:prstGeom prst="rect">
              <a:avLst/>
            </a:prstGeom>
            <a:solidFill>
              <a:srgbClr val="FFFFFF"/>
            </a:solidFill>
            <a:ln w="63500" cap="flat">
              <a:solidFill>
                <a:schemeClr val="accent1">
                  <a:hueOff val="273561"/>
                  <a:satOff val="2937"/>
                  <a:lumOff val="-2223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b">
              <a:noAutofit/>
            </a:bodyPr>
            <a:lstStyle/>
            <a:p>
              <a: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Construcción del procedimiento y Lineamientos para la interacción con el Calmécac</a:t>
              </a:r>
            </a:p>
            <a:p>
              <a: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pPr>
              <a:r>
                <a:t>Construcción de los Servicios para interactuar con los sistemas Institucionales</a:t>
              </a:r>
            </a:p>
          </p:txBody>
        </p:sp>
        <p:sp>
          <p:nvSpPr>
            <p:cNvPr id="335" name="Estructura Académica"/>
            <p:cNvSpPr/>
            <p:nvPr/>
          </p:nvSpPr>
          <p:spPr>
            <a:xfrm>
              <a:off x="4109472" y="1235670"/>
              <a:ext cx="2600884" cy="1270001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Estructura Académica</a:t>
              </a:r>
            </a:p>
          </p:txBody>
        </p:sp>
        <p:sp>
          <p:nvSpPr>
            <p:cNvPr id="336" name="Dictámenes"/>
            <p:cNvSpPr/>
            <p:nvPr/>
          </p:nvSpPr>
          <p:spPr>
            <a:xfrm>
              <a:off x="9784509" y="257087"/>
              <a:ext cx="2586133" cy="199945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Dictámenes</a:t>
              </a:r>
            </a:p>
          </p:txBody>
        </p:sp>
        <p:sp>
          <p:nvSpPr>
            <p:cNvPr id="337" name="Movilidad"/>
            <p:cNvSpPr/>
            <p:nvPr/>
          </p:nvSpPr>
          <p:spPr>
            <a:xfrm>
              <a:off x="987358" y="318309"/>
              <a:ext cx="2942218" cy="80591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Movilidad</a:t>
              </a:r>
            </a:p>
          </p:txBody>
        </p:sp>
        <p:sp>
          <p:nvSpPr>
            <p:cNvPr id="338" name="Flexibilidad"/>
            <p:cNvSpPr/>
            <p:nvPr/>
          </p:nvSpPr>
          <p:spPr>
            <a:xfrm>
              <a:off x="4222948" y="239997"/>
              <a:ext cx="2487408" cy="88423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Flexibilidad</a:t>
              </a:r>
            </a:p>
          </p:txBody>
        </p:sp>
        <p:sp>
          <p:nvSpPr>
            <p:cNvPr id="339" name="Interconexión"/>
            <p:cNvSpPr/>
            <p:nvPr/>
          </p:nvSpPr>
          <p:spPr>
            <a:xfrm>
              <a:off x="7003729" y="239997"/>
              <a:ext cx="2487408" cy="88423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Interconexión</a:t>
              </a:r>
            </a:p>
          </p:txBody>
        </p:sp>
        <p:sp>
          <p:nvSpPr>
            <p:cNvPr id="340" name="Reportes I"/>
            <p:cNvSpPr/>
            <p:nvPr/>
          </p:nvSpPr>
          <p:spPr>
            <a:xfrm>
              <a:off x="987358" y="1235670"/>
              <a:ext cx="2828742" cy="96909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Reportes I</a:t>
              </a:r>
            </a:p>
          </p:txBody>
        </p:sp>
        <p:sp>
          <p:nvSpPr>
            <p:cNvPr id="341" name="Virtual"/>
            <p:cNvSpPr/>
            <p:nvPr/>
          </p:nvSpPr>
          <p:spPr>
            <a:xfrm>
              <a:off x="6868128" y="1367397"/>
              <a:ext cx="2600884" cy="982503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Virtual</a:t>
              </a:r>
            </a:p>
          </p:txBody>
        </p:sp>
        <p:sp>
          <p:nvSpPr>
            <p:cNvPr id="342" name="Etapa II"/>
            <p:cNvSpPr/>
            <p:nvPr/>
          </p:nvSpPr>
          <p:spPr>
            <a:xfrm rot="16200000">
              <a:off x="-1460503" y="1498037"/>
              <a:ext cx="3619693" cy="69868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1">
                  <a:hueOff val="273561"/>
                  <a:satOff val="2937"/>
                  <a:lumOff val="-22233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Etapa II</a:t>
              </a:r>
            </a:p>
          </p:txBody>
        </p:sp>
      </p:grpSp>
      <p:grpSp>
        <p:nvGrpSpPr>
          <p:cNvPr id="349" name="Agrupar"/>
          <p:cNvGrpSpPr/>
          <p:nvPr/>
        </p:nvGrpSpPr>
        <p:grpSpPr>
          <a:xfrm>
            <a:off x="190008" y="220973"/>
            <a:ext cx="12591015" cy="2134445"/>
            <a:chOff x="0" y="0"/>
            <a:chExt cx="12591014" cy="2134444"/>
          </a:xfrm>
        </p:grpSpPr>
        <p:sp>
          <p:nvSpPr>
            <p:cNvPr id="344" name="Estabilización y consolidación Calmécac"/>
            <p:cNvSpPr/>
            <p:nvPr/>
          </p:nvSpPr>
          <p:spPr>
            <a:xfrm>
              <a:off x="787892" y="0"/>
              <a:ext cx="11803123" cy="2134445"/>
            </a:xfrm>
            <a:prstGeom prst="rect">
              <a:avLst/>
            </a:prstGeom>
            <a:solidFill>
              <a:srgbClr val="FFFFFF"/>
            </a:solidFill>
            <a:ln w="50800" cap="flat">
              <a:solidFill>
                <a:srgbClr val="000000"/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b">
              <a:noAutofit/>
            </a:bodyPr>
            <a:lstStyle>
              <a:lvl1pPr algn="l"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Estabilización y consolidación Calmécac</a:t>
              </a:r>
            </a:p>
          </p:txBody>
        </p:sp>
        <p:sp>
          <p:nvSpPr>
            <p:cNvPr id="345" name="Titulación"/>
            <p:cNvSpPr/>
            <p:nvPr/>
          </p:nvSpPr>
          <p:spPr>
            <a:xfrm>
              <a:off x="9915701" y="183121"/>
              <a:ext cx="2487409" cy="1420977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Titulación</a:t>
              </a:r>
            </a:p>
          </p:txBody>
        </p:sp>
        <p:sp>
          <p:nvSpPr>
            <p:cNvPr id="346" name="Reportes II"/>
            <p:cNvSpPr/>
            <p:nvPr/>
          </p:nvSpPr>
          <p:spPr>
            <a:xfrm>
              <a:off x="1249084" y="150403"/>
              <a:ext cx="2942218" cy="1453696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Reportes II</a:t>
              </a:r>
            </a:p>
          </p:txBody>
        </p:sp>
        <p:sp>
          <p:nvSpPr>
            <p:cNvPr id="347" name="Seguimiento a Egresados"/>
            <p:cNvSpPr/>
            <p:nvPr/>
          </p:nvSpPr>
          <p:spPr>
            <a:xfrm>
              <a:off x="4326949" y="172632"/>
              <a:ext cx="5246018" cy="1453695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chemeClr val="accent5">
                  <a:hueOff val="-522602"/>
                  <a:satOff val="-6700"/>
                  <a:lumOff val="-22320"/>
                </a:schemeClr>
              </a:solidFill>
              <a:prstDash val="solid"/>
              <a:miter lim="400000"/>
            </a:ln>
            <a:effectLst>
              <a:outerShdw sx="100000" sy="100000" kx="0" ky="0" algn="b" rotWithShape="0" blurRad="3810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Seguimiento a Egresados</a:t>
              </a:r>
            </a:p>
          </p:txBody>
        </p:sp>
        <p:sp>
          <p:nvSpPr>
            <p:cNvPr id="348" name="Etapa III"/>
            <p:cNvSpPr/>
            <p:nvPr/>
          </p:nvSpPr>
          <p:spPr>
            <a:xfrm rot="16200000">
              <a:off x="-717879" y="717878"/>
              <a:ext cx="2134445" cy="698688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>
              <a:outerShdw sx="100000" sy="100000" kx="0" ky="0" algn="b" rotWithShape="0" blurRad="0" dist="25400" dir="540000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24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Etapa III</a:t>
              </a:r>
            </a:p>
          </p:txBody>
        </p:sp>
      </p:grpSp>
      <p:sp>
        <p:nvSpPr>
          <p:cNvPr id="350" name="Fase I. Construcción del Calmécac Niveles Medio Superior, Superior y posgrado"/>
          <p:cNvSpPr/>
          <p:nvPr/>
        </p:nvSpPr>
        <p:spPr>
          <a:xfrm>
            <a:off x="1011042" y="6308570"/>
            <a:ext cx="7440375" cy="3249333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Fase I. Construcción del Calmécac Niveles Medio Superior, Superior y posgrado</a:t>
            </a:r>
          </a:p>
        </p:txBody>
      </p:sp>
      <p:sp>
        <p:nvSpPr>
          <p:cNvPr id="351" name="Seguridad"/>
          <p:cNvSpPr/>
          <p:nvPr/>
        </p:nvSpPr>
        <p:spPr>
          <a:xfrm rot="16200000">
            <a:off x="577440" y="8193749"/>
            <a:ext cx="1885456" cy="56928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Seguridad</a:t>
            </a:r>
          </a:p>
        </p:txBody>
      </p:sp>
      <p:sp>
        <p:nvSpPr>
          <p:cNvPr id="352" name="Planes de Estudio"/>
          <p:cNvSpPr/>
          <p:nvPr/>
        </p:nvSpPr>
        <p:spPr>
          <a:xfrm>
            <a:off x="1967531" y="7528312"/>
            <a:ext cx="1698346" cy="87434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Planes de Estudio</a:t>
            </a:r>
          </a:p>
        </p:txBody>
      </p:sp>
      <p:sp>
        <p:nvSpPr>
          <p:cNvPr id="353" name="Inscrip-ciones"/>
          <p:cNvSpPr/>
          <p:nvPr/>
        </p:nvSpPr>
        <p:spPr>
          <a:xfrm>
            <a:off x="3807305" y="7528312"/>
            <a:ext cx="1538296" cy="87434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Inscrip-ciones</a:t>
            </a:r>
          </a:p>
        </p:txBody>
      </p:sp>
      <p:sp>
        <p:nvSpPr>
          <p:cNvPr id="354" name="Procesos de Soporte"/>
          <p:cNvSpPr/>
          <p:nvPr/>
        </p:nvSpPr>
        <p:spPr>
          <a:xfrm>
            <a:off x="1967531" y="8546775"/>
            <a:ext cx="1698346" cy="84319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Procesos de Soporte</a:t>
            </a:r>
          </a:p>
        </p:txBody>
      </p:sp>
      <p:sp>
        <p:nvSpPr>
          <p:cNvPr id="355" name="Registro de Calificaciones"/>
          <p:cNvSpPr/>
          <p:nvPr/>
        </p:nvSpPr>
        <p:spPr>
          <a:xfrm rot="16200000">
            <a:off x="6807248" y="7857642"/>
            <a:ext cx="1864110" cy="120054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Registro de Calificaciones</a:t>
            </a:r>
          </a:p>
        </p:txBody>
      </p:sp>
      <p:sp>
        <p:nvSpPr>
          <p:cNvPr id="356" name="Reinscrip-ciones"/>
          <p:cNvSpPr/>
          <p:nvPr/>
        </p:nvSpPr>
        <p:spPr>
          <a:xfrm>
            <a:off x="3807305" y="8546775"/>
            <a:ext cx="1538296" cy="84319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Reinscrip-ciones</a:t>
            </a:r>
          </a:p>
        </p:txBody>
      </p:sp>
      <p:sp>
        <p:nvSpPr>
          <p:cNvPr id="357" name="Profesores"/>
          <p:cNvSpPr/>
          <p:nvPr/>
        </p:nvSpPr>
        <p:spPr>
          <a:xfrm>
            <a:off x="5487030" y="7525862"/>
            <a:ext cx="1538296" cy="87924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Profesores</a:t>
            </a:r>
          </a:p>
        </p:txBody>
      </p:sp>
      <p:sp>
        <p:nvSpPr>
          <p:cNvPr id="358" name="Cursos"/>
          <p:cNvSpPr/>
          <p:nvPr/>
        </p:nvSpPr>
        <p:spPr>
          <a:xfrm>
            <a:off x="5487029" y="8546775"/>
            <a:ext cx="1538297" cy="843197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Cursos</a:t>
            </a:r>
          </a:p>
        </p:txBody>
      </p:sp>
      <p:sp>
        <p:nvSpPr>
          <p:cNvPr id="359" name="Etapa I"/>
          <p:cNvSpPr/>
          <p:nvPr/>
        </p:nvSpPr>
        <p:spPr>
          <a:xfrm rot="16200000">
            <a:off x="-1095996" y="7583892"/>
            <a:ext cx="3287433" cy="69868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Etapa I</a:t>
            </a:r>
          </a:p>
        </p:txBody>
      </p:sp>
      <p:sp>
        <p:nvSpPr>
          <p:cNvPr id="360" name="Fase II Adquisición de equipo"/>
          <p:cNvSpPr/>
          <p:nvPr/>
        </p:nvSpPr>
        <p:spPr>
          <a:xfrm>
            <a:off x="8590795" y="6308570"/>
            <a:ext cx="4183879" cy="3249333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algn="l"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Fase II Adquisición de equipo</a:t>
            </a:r>
          </a:p>
        </p:txBody>
      </p:sp>
      <p:sp>
        <p:nvSpPr>
          <p:cNvPr id="361" name="Seguridad"/>
          <p:cNvSpPr/>
          <p:nvPr/>
        </p:nvSpPr>
        <p:spPr>
          <a:xfrm rot="16200000">
            <a:off x="8199066" y="8124363"/>
            <a:ext cx="1864110" cy="5692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Seguridad</a:t>
            </a:r>
          </a:p>
        </p:txBody>
      </p:sp>
      <p:sp>
        <p:nvSpPr>
          <p:cNvPr id="362" name="Balanceo"/>
          <p:cNvSpPr/>
          <p:nvPr/>
        </p:nvSpPr>
        <p:spPr>
          <a:xfrm rot="16200000">
            <a:off x="8929334" y="8145328"/>
            <a:ext cx="1864111" cy="5692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Balanceo</a:t>
            </a:r>
          </a:p>
        </p:txBody>
      </p:sp>
      <p:pic>
        <p:nvPicPr>
          <p:cNvPr id="363" name="FullSizeRender 16.jpg" descr="FullSizeRender 16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21001" y="7355137"/>
            <a:ext cx="1826052" cy="19922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roceso para gestión del proyecto"/>
          <p:cNvSpPr txBox="1"/>
          <p:nvPr>
            <p:ph type="title"/>
          </p:nvPr>
        </p:nvSpPr>
        <p:spPr>
          <a:xfrm>
            <a:off x="2355553" y="-306487"/>
            <a:ext cx="8276956" cy="2159001"/>
          </a:xfrm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/>
            <a:r>
              <a:t>Proceso para gestión del proyecto</a:t>
            </a:r>
          </a:p>
        </p:txBody>
      </p:sp>
      <p:sp>
        <p:nvSpPr>
          <p:cNvPr id="368" name="Inicial"/>
          <p:cNvSpPr/>
          <p:nvPr/>
        </p:nvSpPr>
        <p:spPr>
          <a:xfrm>
            <a:off x="990600" y="1981200"/>
            <a:ext cx="2060278" cy="639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Inicial</a:t>
            </a:r>
          </a:p>
        </p:txBody>
      </p:sp>
      <p:sp>
        <p:nvSpPr>
          <p:cNvPr id="369" name="Planeación"/>
          <p:cNvSpPr/>
          <p:nvPr/>
        </p:nvSpPr>
        <p:spPr>
          <a:xfrm>
            <a:off x="3178001" y="1981200"/>
            <a:ext cx="2060278" cy="639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Planeación</a:t>
            </a:r>
          </a:p>
        </p:txBody>
      </p:sp>
      <p:sp>
        <p:nvSpPr>
          <p:cNvPr id="370" name="Ejecución"/>
          <p:cNvSpPr/>
          <p:nvPr/>
        </p:nvSpPr>
        <p:spPr>
          <a:xfrm>
            <a:off x="5365402" y="1981200"/>
            <a:ext cx="2060279" cy="639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Ejecución</a:t>
            </a:r>
          </a:p>
        </p:txBody>
      </p:sp>
      <p:sp>
        <p:nvSpPr>
          <p:cNvPr id="371" name="Monitoreo"/>
          <p:cNvSpPr/>
          <p:nvPr/>
        </p:nvSpPr>
        <p:spPr>
          <a:xfrm>
            <a:off x="7514704" y="1981200"/>
            <a:ext cx="2060278" cy="639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Monitoreo</a:t>
            </a:r>
          </a:p>
        </p:txBody>
      </p:sp>
      <p:sp>
        <p:nvSpPr>
          <p:cNvPr id="372" name="Cierre"/>
          <p:cNvSpPr/>
          <p:nvPr/>
        </p:nvSpPr>
        <p:spPr>
          <a:xfrm>
            <a:off x="9740205" y="1981200"/>
            <a:ext cx="2060278" cy="63966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Cierre</a:t>
            </a:r>
          </a:p>
        </p:txBody>
      </p:sp>
      <p:sp>
        <p:nvSpPr>
          <p:cNvPr id="373" name="Proceso de definición y alcance del proyecto.…"/>
          <p:cNvSpPr/>
          <p:nvPr/>
        </p:nvSpPr>
        <p:spPr>
          <a:xfrm>
            <a:off x="990600" y="2749550"/>
            <a:ext cx="2060278" cy="628471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definición y alcance del proyecto.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Identificación de las personas interesadas en el proyecto.</a:t>
            </a:r>
          </a:p>
        </p:txBody>
      </p:sp>
      <p:sp>
        <p:nvSpPr>
          <p:cNvPr id="374" name="Proceso de administración del alcance.…"/>
          <p:cNvSpPr/>
          <p:nvPr/>
        </p:nvSpPr>
        <p:spPr>
          <a:xfrm>
            <a:off x="3178001" y="2749550"/>
            <a:ext cx="2060278" cy="628471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administración del alcance.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recolección de requerimientos.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definición de alcance.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administración del tiempo.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definición de actividades.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estimación de recursos.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Plan de calidad.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Plan de comunicaciones.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Plan de administración de riesgos.</a:t>
            </a:r>
          </a:p>
        </p:txBody>
      </p:sp>
      <p:sp>
        <p:nvSpPr>
          <p:cNvPr id="375" name="Proceso de dirección y administración del trabajo.…"/>
          <p:cNvSpPr/>
          <p:nvPr/>
        </p:nvSpPr>
        <p:spPr>
          <a:xfrm>
            <a:off x="5365402" y="2749550"/>
            <a:ext cx="2060278" cy="628471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dirección y administración del trabajo.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desempeño de la calidad.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Ejecución del proyecto.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Administración del proyecto.</a:t>
            </a:r>
          </a:p>
        </p:txBody>
      </p:sp>
      <p:sp>
        <p:nvSpPr>
          <p:cNvPr id="376" name="Proceso de monitoreo y control del proyecto.…"/>
          <p:cNvSpPr/>
          <p:nvPr/>
        </p:nvSpPr>
        <p:spPr>
          <a:xfrm>
            <a:off x="7514704" y="2749550"/>
            <a:ext cx="2060278" cy="628471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/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Proceso de monitoreo y control del proyecto.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Validación del alcance.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Control del alcance.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Control de la calendarización.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Control de la calidad.</a:t>
            </a:r>
          </a:p>
          <a:p>
            <a: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pPr>
            <a:r>
              <a:t>Control de riesgos</a:t>
            </a:r>
          </a:p>
        </p:txBody>
      </p:sp>
      <p:sp>
        <p:nvSpPr>
          <p:cNvPr id="377" name="Cierre del proyecto"/>
          <p:cNvSpPr/>
          <p:nvPr/>
        </p:nvSpPr>
        <p:spPr>
          <a:xfrm>
            <a:off x="9740205" y="2749550"/>
            <a:ext cx="2060278" cy="6284715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marL="228600" indent="-228600" algn="l">
              <a:buSzPct val="100000"/>
              <a:buAutoNum type="arabicPeriod" startAt="1"/>
              <a:defRPr b="1" sz="155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Cierre del proyecto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Organigrama"/>
          <p:cNvSpPr txBox="1"/>
          <p:nvPr>
            <p:ph type="title"/>
          </p:nvPr>
        </p:nvSpPr>
        <p:spPr>
          <a:xfrm>
            <a:off x="952500" y="-1"/>
            <a:ext cx="11099800" cy="852982"/>
          </a:xfrm>
          <a:prstGeom prst="rect">
            <a:avLst/>
          </a:prstGeom>
        </p:spPr>
        <p:txBody>
          <a:bodyPr/>
          <a:lstStyle>
            <a:lvl1pPr defTabSz="362204">
              <a:defRPr sz="4960"/>
            </a:lvl1pPr>
          </a:lstStyle>
          <a:p>
            <a:pPr/>
            <a:r>
              <a:t>Organigrama</a:t>
            </a:r>
          </a:p>
        </p:txBody>
      </p:sp>
      <p:sp>
        <p:nvSpPr>
          <p:cNvPr id="382" name="Líder de proyecto…"/>
          <p:cNvSpPr/>
          <p:nvPr/>
        </p:nvSpPr>
        <p:spPr>
          <a:xfrm>
            <a:off x="4984531" y="865680"/>
            <a:ext cx="2381634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Líder de proyecto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Jaime López</a:t>
            </a:r>
          </a:p>
        </p:txBody>
      </p:sp>
      <p:sp>
        <p:nvSpPr>
          <p:cNvPr id="383" name="Líder de Análisis…"/>
          <p:cNvSpPr/>
          <p:nvPr/>
        </p:nvSpPr>
        <p:spPr>
          <a:xfrm>
            <a:off x="481724" y="4889500"/>
            <a:ext cx="3226485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Líder de Análisis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David/Ulises</a:t>
            </a:r>
          </a:p>
        </p:txBody>
      </p:sp>
      <p:sp>
        <p:nvSpPr>
          <p:cNvPr id="384" name="Líder Desarrollo…"/>
          <p:cNvSpPr/>
          <p:nvPr/>
        </p:nvSpPr>
        <p:spPr>
          <a:xfrm>
            <a:off x="4247807" y="4912819"/>
            <a:ext cx="2604158" cy="827582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Líder Desarrollo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Hermes Francisco</a:t>
            </a:r>
          </a:p>
        </p:txBody>
      </p:sp>
      <p:sp>
        <p:nvSpPr>
          <p:cNvPr id="385" name="Equipo de especialistas…"/>
          <p:cNvSpPr/>
          <p:nvPr/>
        </p:nvSpPr>
        <p:spPr>
          <a:xfrm>
            <a:off x="8216256" y="4889500"/>
            <a:ext cx="3226485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Equipo de especialistas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Externos</a:t>
            </a:r>
          </a:p>
        </p:txBody>
      </p:sp>
      <p:sp>
        <p:nvSpPr>
          <p:cNvPr id="386" name="Apoyo Administrativo…"/>
          <p:cNvSpPr/>
          <p:nvPr/>
        </p:nvSpPr>
        <p:spPr>
          <a:xfrm>
            <a:off x="1448675" y="1991929"/>
            <a:ext cx="3226485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Apoyo Administrativo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Cintia</a:t>
            </a:r>
          </a:p>
        </p:txBody>
      </p:sp>
      <p:cxnSp>
        <p:nvCxnSpPr>
          <p:cNvPr id="387" name="Línea de conexión"/>
          <p:cNvCxnSpPr>
            <a:stCxn id="386" idx="0"/>
            <a:endCxn id="382" idx="0"/>
          </p:cNvCxnSpPr>
          <p:nvPr/>
        </p:nvCxnSpPr>
        <p:spPr>
          <a:xfrm flipV="1">
            <a:off x="3060700" y="1282700"/>
            <a:ext cx="3111500" cy="11176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388" name="Responsable Técnico…"/>
          <p:cNvSpPr/>
          <p:nvPr/>
        </p:nvSpPr>
        <p:spPr>
          <a:xfrm>
            <a:off x="7629634" y="1991929"/>
            <a:ext cx="3226485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Técnico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Chadwick</a:t>
            </a:r>
          </a:p>
        </p:txBody>
      </p:sp>
      <p:sp>
        <p:nvSpPr>
          <p:cNvPr id="389" name="Arquitecto…"/>
          <p:cNvSpPr/>
          <p:nvPr/>
        </p:nvSpPr>
        <p:spPr>
          <a:xfrm>
            <a:off x="8921797" y="6040875"/>
            <a:ext cx="2381634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Arquitecto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Jorge Vargas</a:t>
            </a:r>
          </a:p>
        </p:txBody>
      </p:sp>
      <p:sp>
        <p:nvSpPr>
          <p:cNvPr id="390" name="DBA…"/>
          <p:cNvSpPr/>
          <p:nvPr/>
        </p:nvSpPr>
        <p:spPr>
          <a:xfrm>
            <a:off x="8921797" y="7043053"/>
            <a:ext cx="2381634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DBA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Marco López</a:t>
            </a:r>
          </a:p>
        </p:txBody>
      </p:sp>
      <p:sp>
        <p:nvSpPr>
          <p:cNvPr id="391" name="Seguridad…"/>
          <p:cNvSpPr/>
          <p:nvPr/>
        </p:nvSpPr>
        <p:spPr>
          <a:xfrm>
            <a:off x="8921797" y="8246813"/>
            <a:ext cx="2381634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Seguridad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Vacante</a:t>
            </a:r>
          </a:p>
        </p:txBody>
      </p:sp>
      <p:cxnSp>
        <p:nvCxnSpPr>
          <p:cNvPr id="392" name="Línea de conexión"/>
          <p:cNvCxnSpPr>
            <a:stCxn id="382" idx="0"/>
            <a:endCxn id="388" idx="0"/>
          </p:cNvCxnSpPr>
          <p:nvPr/>
        </p:nvCxnSpPr>
        <p:spPr>
          <a:xfrm flipH="1" rot="16200000">
            <a:off x="7150100" y="304800"/>
            <a:ext cx="1117600" cy="30734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393" name="Células de análisis"/>
          <p:cNvSpPr/>
          <p:nvPr/>
        </p:nvSpPr>
        <p:spPr>
          <a:xfrm>
            <a:off x="481724" y="6367900"/>
            <a:ext cx="3226485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Células de análisis</a:t>
            </a:r>
          </a:p>
        </p:txBody>
      </p:sp>
      <p:sp>
        <p:nvSpPr>
          <p:cNvPr id="394" name="Células de desarrollo"/>
          <p:cNvSpPr/>
          <p:nvPr/>
        </p:nvSpPr>
        <p:spPr>
          <a:xfrm>
            <a:off x="4139680" y="6367900"/>
            <a:ext cx="2820413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Células de desarrollo</a:t>
            </a:r>
          </a:p>
        </p:txBody>
      </p:sp>
      <p:cxnSp>
        <p:nvCxnSpPr>
          <p:cNvPr id="395" name="Línea de conexión"/>
          <p:cNvCxnSpPr>
            <a:stCxn id="383" idx="0"/>
            <a:endCxn id="382" idx="0"/>
          </p:cNvCxnSpPr>
          <p:nvPr/>
        </p:nvCxnSpPr>
        <p:spPr>
          <a:xfrm flipH="1" flipV="1" rot="5400000">
            <a:off x="2120900" y="1257300"/>
            <a:ext cx="4025900" cy="4076700"/>
          </a:xfrm>
          <a:prstGeom prst="bentConnector3">
            <a:avLst>
              <a:gd name="adj1" fmla="val 37223"/>
            </a:avLst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96" name="Línea de conexión"/>
          <p:cNvCxnSpPr>
            <a:stCxn id="384" idx="0"/>
            <a:endCxn id="382" idx="0"/>
          </p:cNvCxnSpPr>
          <p:nvPr/>
        </p:nvCxnSpPr>
        <p:spPr>
          <a:xfrm flipH="1" flipV="1" rot="5400000">
            <a:off x="3841750" y="2990850"/>
            <a:ext cx="4038600" cy="622300"/>
          </a:xfrm>
          <a:prstGeom prst="bentConnector3">
            <a:avLst>
              <a:gd name="adj1" fmla="val 37421"/>
            </a:avLst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97" name="Línea de conexión"/>
          <p:cNvCxnSpPr>
            <a:stCxn id="385" idx="0"/>
            <a:endCxn id="382" idx="0"/>
          </p:cNvCxnSpPr>
          <p:nvPr/>
        </p:nvCxnSpPr>
        <p:spPr>
          <a:xfrm flipV="1" rot="16200000">
            <a:off x="5988050" y="1466850"/>
            <a:ext cx="4025900" cy="3657600"/>
          </a:xfrm>
          <a:prstGeom prst="bentConnector3">
            <a:avLst>
              <a:gd name="adj1" fmla="val 37223"/>
            </a:avLst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98" name="Línea de conexión"/>
          <p:cNvCxnSpPr>
            <a:stCxn id="383" idx="0"/>
            <a:endCxn id="393" idx="0"/>
          </p:cNvCxnSpPr>
          <p:nvPr/>
        </p:nvCxnSpPr>
        <p:spPr>
          <a:xfrm flipH="1" rot="16200000">
            <a:off x="1365250" y="6038850"/>
            <a:ext cx="1473200" cy="127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399" name="Línea de conexión"/>
          <p:cNvCxnSpPr>
            <a:stCxn id="384" idx="0"/>
            <a:endCxn id="394" idx="0"/>
          </p:cNvCxnSpPr>
          <p:nvPr/>
        </p:nvCxnSpPr>
        <p:spPr>
          <a:xfrm>
            <a:off x="5549886" y="5326609"/>
            <a:ext cx="1" cy="1455082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400" name="Línea de conexión"/>
          <p:cNvCxnSpPr>
            <a:stCxn id="385" idx="0"/>
            <a:endCxn id="389" idx="0"/>
          </p:cNvCxnSpPr>
          <p:nvPr/>
        </p:nvCxnSpPr>
        <p:spPr>
          <a:xfrm>
            <a:off x="9829800" y="5308600"/>
            <a:ext cx="279400" cy="1143000"/>
          </a:xfrm>
          <a:prstGeom prst="bentConnector3">
            <a:avLst>
              <a:gd name="adj1" fmla="val -745454"/>
            </a:avLst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401" name="Línea de conexión"/>
          <p:cNvCxnSpPr>
            <a:stCxn id="385" idx="0"/>
            <a:endCxn id="390" idx="0"/>
          </p:cNvCxnSpPr>
          <p:nvPr/>
        </p:nvCxnSpPr>
        <p:spPr>
          <a:xfrm>
            <a:off x="9829800" y="5308600"/>
            <a:ext cx="279400" cy="2146300"/>
          </a:xfrm>
          <a:prstGeom prst="bentConnector3">
            <a:avLst>
              <a:gd name="adj1" fmla="val -745454"/>
            </a:avLst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402" name="Línea de conexión"/>
          <p:cNvCxnSpPr>
            <a:stCxn id="385" idx="0"/>
            <a:endCxn id="391" idx="0"/>
          </p:cNvCxnSpPr>
          <p:nvPr/>
        </p:nvCxnSpPr>
        <p:spPr>
          <a:xfrm>
            <a:off x="9829800" y="5308600"/>
            <a:ext cx="279400" cy="3352800"/>
          </a:xfrm>
          <a:prstGeom prst="bentConnector3">
            <a:avLst>
              <a:gd name="adj1" fmla="val -745454"/>
            </a:avLst>
          </a:prstGeom>
          <a:ln w="25400">
            <a:solidFill>
              <a:srgbClr val="000000"/>
            </a:solidFill>
            <a:miter lim="400000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:dissolv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Organigrama"/>
          <p:cNvSpPr txBox="1"/>
          <p:nvPr>
            <p:ph type="title"/>
          </p:nvPr>
        </p:nvSpPr>
        <p:spPr>
          <a:xfrm>
            <a:off x="952500" y="-1"/>
            <a:ext cx="11099800" cy="852982"/>
          </a:xfrm>
          <a:prstGeom prst="rect">
            <a:avLst/>
          </a:prstGeom>
        </p:spPr>
        <p:txBody>
          <a:bodyPr/>
          <a:lstStyle>
            <a:lvl1pPr defTabSz="362204">
              <a:defRPr sz="4960"/>
            </a:lvl1pPr>
          </a:lstStyle>
          <a:p>
            <a:pPr/>
            <a:r>
              <a:t>Organigrama</a:t>
            </a:r>
          </a:p>
        </p:txBody>
      </p:sp>
      <p:sp>
        <p:nvSpPr>
          <p:cNvPr id="405" name="Líder de proyecto…"/>
          <p:cNvSpPr/>
          <p:nvPr/>
        </p:nvSpPr>
        <p:spPr>
          <a:xfrm>
            <a:off x="5422578" y="865680"/>
            <a:ext cx="2381634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Líder de proyecto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Jaime López</a:t>
            </a:r>
          </a:p>
        </p:txBody>
      </p:sp>
      <p:sp>
        <p:nvSpPr>
          <p:cNvPr id="406" name="Líder de Análisis…"/>
          <p:cNvSpPr/>
          <p:nvPr/>
        </p:nvSpPr>
        <p:spPr>
          <a:xfrm>
            <a:off x="2116573" y="1990451"/>
            <a:ext cx="2381634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Líder de Análisis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David/Ulises</a:t>
            </a:r>
          </a:p>
        </p:txBody>
      </p:sp>
      <p:sp>
        <p:nvSpPr>
          <p:cNvPr id="407" name="Líder Desarrollo…"/>
          <p:cNvSpPr/>
          <p:nvPr/>
        </p:nvSpPr>
        <p:spPr>
          <a:xfrm>
            <a:off x="8056026" y="1990451"/>
            <a:ext cx="2604157" cy="82758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Líder Desarrollo</a:t>
            </a:r>
          </a:p>
          <a:p>
            <a:pPr>
              <a:defRPr b="1"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Hermes Francisco</a:t>
            </a:r>
          </a:p>
        </p:txBody>
      </p:sp>
      <p:sp>
        <p:nvSpPr>
          <p:cNvPr id="408" name="Célula 2…"/>
          <p:cNvSpPr/>
          <p:nvPr/>
        </p:nvSpPr>
        <p:spPr>
          <a:xfrm>
            <a:off x="278480" y="4450994"/>
            <a:ext cx="2710028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2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Asunción</a:t>
            </a:r>
          </a:p>
        </p:txBody>
      </p:sp>
      <p:sp>
        <p:nvSpPr>
          <p:cNvPr id="409" name="Célula 3…"/>
          <p:cNvSpPr/>
          <p:nvPr/>
        </p:nvSpPr>
        <p:spPr>
          <a:xfrm>
            <a:off x="278480" y="5753318"/>
            <a:ext cx="2710028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3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Chadwick</a:t>
            </a:r>
          </a:p>
        </p:txBody>
      </p:sp>
      <p:sp>
        <p:nvSpPr>
          <p:cNvPr id="410" name="Célula 4…"/>
          <p:cNvSpPr/>
          <p:nvPr/>
        </p:nvSpPr>
        <p:spPr>
          <a:xfrm>
            <a:off x="278480" y="7023100"/>
            <a:ext cx="2710028" cy="1054100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4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Ulises Velez</a:t>
            </a:r>
          </a:p>
        </p:txBody>
      </p:sp>
      <p:sp>
        <p:nvSpPr>
          <p:cNvPr id="411" name="Célula 5…"/>
          <p:cNvSpPr/>
          <p:nvPr/>
        </p:nvSpPr>
        <p:spPr>
          <a:xfrm>
            <a:off x="278480" y="8331200"/>
            <a:ext cx="2710028" cy="1054100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5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Sandra</a:t>
            </a:r>
          </a:p>
        </p:txBody>
      </p:sp>
      <p:sp>
        <p:nvSpPr>
          <p:cNvPr id="412" name="Célula 7…"/>
          <p:cNvSpPr/>
          <p:nvPr/>
        </p:nvSpPr>
        <p:spPr>
          <a:xfrm>
            <a:off x="3753778" y="4450994"/>
            <a:ext cx="2710027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7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Luis</a:t>
            </a:r>
          </a:p>
        </p:txBody>
      </p:sp>
      <p:sp>
        <p:nvSpPr>
          <p:cNvPr id="413" name="Célula 8…"/>
          <p:cNvSpPr/>
          <p:nvPr/>
        </p:nvSpPr>
        <p:spPr>
          <a:xfrm>
            <a:off x="3753778" y="5753318"/>
            <a:ext cx="2710027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8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Josue Rangel</a:t>
            </a:r>
          </a:p>
        </p:txBody>
      </p:sp>
      <p:sp>
        <p:nvSpPr>
          <p:cNvPr id="414" name="Célula 9…"/>
          <p:cNvSpPr/>
          <p:nvPr/>
        </p:nvSpPr>
        <p:spPr>
          <a:xfrm>
            <a:off x="3753778" y="7055643"/>
            <a:ext cx="2710027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9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David </a:t>
            </a:r>
          </a:p>
        </p:txBody>
      </p:sp>
      <p:sp>
        <p:nvSpPr>
          <p:cNvPr id="415" name="Célula 6…"/>
          <p:cNvSpPr/>
          <p:nvPr/>
        </p:nvSpPr>
        <p:spPr>
          <a:xfrm>
            <a:off x="3753778" y="3181213"/>
            <a:ext cx="2710027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6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Nayeli</a:t>
            </a:r>
          </a:p>
        </p:txBody>
      </p:sp>
      <p:sp>
        <p:nvSpPr>
          <p:cNvPr id="416" name="Célula 1…"/>
          <p:cNvSpPr/>
          <p:nvPr/>
        </p:nvSpPr>
        <p:spPr>
          <a:xfrm>
            <a:off x="278480" y="3181213"/>
            <a:ext cx="2710028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1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Análisis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Idalia</a:t>
            </a:r>
          </a:p>
        </p:txBody>
      </p:sp>
      <p:sp>
        <p:nvSpPr>
          <p:cNvPr id="417" name="Célula 2…"/>
          <p:cNvSpPr/>
          <p:nvPr/>
        </p:nvSpPr>
        <p:spPr>
          <a:xfrm>
            <a:off x="6735828" y="4448106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2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Asunción</a:t>
            </a:r>
          </a:p>
        </p:txBody>
      </p:sp>
      <p:sp>
        <p:nvSpPr>
          <p:cNvPr id="418" name="Célula 3…"/>
          <p:cNvSpPr/>
          <p:nvPr/>
        </p:nvSpPr>
        <p:spPr>
          <a:xfrm>
            <a:off x="6735828" y="5750431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3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Josue</a:t>
            </a:r>
          </a:p>
        </p:txBody>
      </p:sp>
      <p:sp>
        <p:nvSpPr>
          <p:cNvPr id="419" name="Célula 4…"/>
          <p:cNvSpPr/>
          <p:nvPr/>
        </p:nvSpPr>
        <p:spPr>
          <a:xfrm>
            <a:off x="6735828" y="7020212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4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Ricardo</a:t>
            </a:r>
          </a:p>
        </p:txBody>
      </p:sp>
      <p:sp>
        <p:nvSpPr>
          <p:cNvPr id="420" name="Célula 6…"/>
          <p:cNvSpPr/>
          <p:nvPr/>
        </p:nvSpPr>
        <p:spPr>
          <a:xfrm>
            <a:off x="9900099" y="3178325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6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Vacante</a:t>
            </a:r>
          </a:p>
        </p:txBody>
      </p:sp>
      <p:sp>
        <p:nvSpPr>
          <p:cNvPr id="421" name="Célula 1…"/>
          <p:cNvSpPr/>
          <p:nvPr/>
        </p:nvSpPr>
        <p:spPr>
          <a:xfrm>
            <a:off x="6735828" y="3178325"/>
            <a:ext cx="2901431" cy="950229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1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Luis</a:t>
            </a:r>
          </a:p>
        </p:txBody>
      </p:sp>
      <p:sp>
        <p:nvSpPr>
          <p:cNvPr id="422" name="Célula 7…"/>
          <p:cNvSpPr/>
          <p:nvPr/>
        </p:nvSpPr>
        <p:spPr>
          <a:xfrm>
            <a:off x="9900099" y="4450994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7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Vacante</a:t>
            </a:r>
          </a:p>
        </p:txBody>
      </p:sp>
      <p:sp>
        <p:nvSpPr>
          <p:cNvPr id="423" name="Célula 8…"/>
          <p:cNvSpPr/>
          <p:nvPr/>
        </p:nvSpPr>
        <p:spPr>
          <a:xfrm>
            <a:off x="9900099" y="5750431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8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Vacante</a:t>
            </a:r>
          </a:p>
        </p:txBody>
      </p:sp>
      <p:sp>
        <p:nvSpPr>
          <p:cNvPr id="424" name="Célula 9…"/>
          <p:cNvSpPr/>
          <p:nvPr/>
        </p:nvSpPr>
        <p:spPr>
          <a:xfrm>
            <a:off x="9900099" y="7052756"/>
            <a:ext cx="2901431" cy="10541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9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Vacante</a:t>
            </a:r>
          </a:p>
        </p:txBody>
      </p:sp>
      <p:sp>
        <p:nvSpPr>
          <p:cNvPr id="425" name="Célula 5…"/>
          <p:cNvSpPr/>
          <p:nvPr/>
        </p:nvSpPr>
        <p:spPr>
          <a:xfrm>
            <a:off x="6735828" y="8331200"/>
            <a:ext cx="2901431" cy="1054100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Célula 5</a:t>
            </a:r>
          </a:p>
          <a:p>
            <a:pPr>
              <a:defRPr b="1" sz="1600">
                <a:latin typeface="Helvetica"/>
                <a:ea typeface="Helvetica"/>
                <a:cs typeface="Helvetica"/>
                <a:sym typeface="Helvetica"/>
              </a:defRPr>
            </a:pPr>
            <a:r>
              <a:t>Responsable de Desarrollo</a:t>
            </a:r>
          </a:p>
          <a:p>
            <a:pPr>
              <a:defRPr b="1" sz="1700">
                <a:latin typeface="Helvetica"/>
                <a:ea typeface="Helvetica"/>
                <a:cs typeface="Helvetica"/>
                <a:sym typeface="Helvetica"/>
              </a:defRPr>
            </a:pPr>
            <a:r>
              <a:t>Vacantes</a:t>
            </a:r>
          </a:p>
        </p:txBody>
      </p:sp>
      <p:sp>
        <p:nvSpPr>
          <p:cNvPr id="426" name="Rectángulo"/>
          <p:cNvSpPr/>
          <p:nvPr/>
        </p:nvSpPr>
        <p:spPr>
          <a:xfrm>
            <a:off x="122362" y="1797889"/>
            <a:ext cx="6478334" cy="7727982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427" name="Rectángulo"/>
          <p:cNvSpPr/>
          <p:nvPr/>
        </p:nvSpPr>
        <p:spPr>
          <a:xfrm>
            <a:off x="6626095" y="1797889"/>
            <a:ext cx="6256343" cy="7727982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Responsabilida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Responsabilidades</a:t>
            </a:r>
          </a:p>
        </p:txBody>
      </p:sp>
      <p:sp>
        <p:nvSpPr>
          <p:cNvPr id="430" name="Editar: doble cli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Organigrama de una Célula"/>
          <p:cNvSpPr txBox="1"/>
          <p:nvPr>
            <p:ph type="title"/>
          </p:nvPr>
        </p:nvSpPr>
        <p:spPr>
          <a:xfrm>
            <a:off x="952500" y="444500"/>
            <a:ext cx="11099800" cy="1359362"/>
          </a:xfrm>
          <a:prstGeom prst="rect">
            <a:avLst/>
          </a:prstGeom>
        </p:spPr>
        <p:txBody>
          <a:bodyPr/>
          <a:lstStyle>
            <a:lvl1pPr defTabSz="502412">
              <a:defRPr sz="6880"/>
            </a:lvl1pPr>
          </a:lstStyle>
          <a:p>
            <a:pPr/>
            <a:r>
              <a:t>Organigrama de una Célula</a:t>
            </a:r>
          </a:p>
        </p:txBody>
      </p:sp>
      <p:sp>
        <p:nvSpPr>
          <p:cNvPr id="433" name="Responsable de análisis"/>
          <p:cNvSpPr/>
          <p:nvPr/>
        </p:nvSpPr>
        <p:spPr>
          <a:xfrm>
            <a:off x="3649987" y="2891194"/>
            <a:ext cx="2189645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Responsable de análisis</a:t>
            </a:r>
          </a:p>
        </p:txBody>
      </p:sp>
      <p:sp>
        <p:nvSpPr>
          <p:cNvPr id="434" name="Análista 1"/>
          <p:cNvSpPr/>
          <p:nvPr/>
        </p:nvSpPr>
        <p:spPr>
          <a:xfrm>
            <a:off x="1894765" y="4773456"/>
            <a:ext cx="2189645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Análista 1</a:t>
            </a:r>
          </a:p>
        </p:txBody>
      </p:sp>
      <p:sp>
        <p:nvSpPr>
          <p:cNvPr id="435" name="Análista 2"/>
          <p:cNvSpPr/>
          <p:nvPr/>
        </p:nvSpPr>
        <p:spPr>
          <a:xfrm>
            <a:off x="1894765" y="6472985"/>
            <a:ext cx="2189645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Análista 2</a:t>
            </a:r>
          </a:p>
        </p:txBody>
      </p:sp>
      <p:sp>
        <p:nvSpPr>
          <p:cNvPr id="436" name="Responsable de Desarrollo"/>
          <p:cNvSpPr/>
          <p:nvPr/>
        </p:nvSpPr>
        <p:spPr>
          <a:xfrm>
            <a:off x="6619307" y="2891194"/>
            <a:ext cx="2189645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Responsable de Desarrollo</a:t>
            </a:r>
          </a:p>
        </p:txBody>
      </p:sp>
      <p:sp>
        <p:nvSpPr>
          <p:cNvPr id="437" name="Desarrollador 1"/>
          <p:cNvSpPr/>
          <p:nvPr/>
        </p:nvSpPr>
        <p:spPr>
          <a:xfrm>
            <a:off x="8494869" y="4773456"/>
            <a:ext cx="2762738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Desarrollador 1</a:t>
            </a:r>
          </a:p>
        </p:txBody>
      </p:sp>
      <p:sp>
        <p:nvSpPr>
          <p:cNvPr id="438" name="Desarrollador 2"/>
          <p:cNvSpPr/>
          <p:nvPr/>
        </p:nvSpPr>
        <p:spPr>
          <a:xfrm>
            <a:off x="8494869" y="6877113"/>
            <a:ext cx="2762738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Desarrollador 2</a:t>
            </a:r>
          </a:p>
        </p:txBody>
      </p:sp>
      <p:sp>
        <p:nvSpPr>
          <p:cNvPr id="439" name="Coordinada por"/>
          <p:cNvSpPr/>
          <p:nvPr/>
        </p:nvSpPr>
        <p:spPr>
          <a:xfrm>
            <a:off x="3002287" y="2249615"/>
            <a:ext cx="6861251" cy="2065388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/>
          <a:lstStyle>
            <a:lvl1pPr algn="l"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Coordinada por</a:t>
            </a:r>
          </a:p>
        </p:txBody>
      </p:sp>
      <p:cxnSp>
        <p:nvCxnSpPr>
          <p:cNvPr id="440" name="Línea de conexión"/>
          <p:cNvCxnSpPr>
            <a:stCxn id="439" idx="0"/>
            <a:endCxn id="434" idx="0"/>
          </p:cNvCxnSpPr>
          <p:nvPr/>
        </p:nvCxnSpPr>
        <p:spPr>
          <a:xfrm rot="5400000">
            <a:off x="3644900" y="2616200"/>
            <a:ext cx="2133600" cy="34544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441" name="Línea de conexión"/>
          <p:cNvCxnSpPr>
            <a:stCxn id="439" idx="0"/>
            <a:endCxn id="435" idx="0"/>
          </p:cNvCxnSpPr>
          <p:nvPr/>
        </p:nvCxnSpPr>
        <p:spPr>
          <a:xfrm rot="5400000">
            <a:off x="2794000" y="3467100"/>
            <a:ext cx="3835400" cy="34544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442" name="Línea de conexión"/>
          <p:cNvCxnSpPr>
            <a:stCxn id="439" idx="0"/>
            <a:endCxn id="437" idx="0"/>
          </p:cNvCxnSpPr>
          <p:nvPr/>
        </p:nvCxnSpPr>
        <p:spPr>
          <a:xfrm flipH="1" rot="16200000">
            <a:off x="7092950" y="2622550"/>
            <a:ext cx="2133600" cy="34417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cxnSp>
        <p:nvCxnSpPr>
          <p:cNvPr id="443" name="Línea de conexión"/>
          <p:cNvCxnSpPr>
            <a:stCxn id="439" idx="0"/>
            <a:endCxn id="438" idx="0"/>
          </p:cNvCxnSpPr>
          <p:nvPr/>
        </p:nvCxnSpPr>
        <p:spPr>
          <a:xfrm flipH="1" rot="16200000">
            <a:off x="6038850" y="3676650"/>
            <a:ext cx="4241800" cy="34417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444" name="Análista 3"/>
          <p:cNvSpPr/>
          <p:nvPr/>
        </p:nvSpPr>
        <p:spPr>
          <a:xfrm>
            <a:off x="1894765" y="8172513"/>
            <a:ext cx="2189645" cy="1270001"/>
          </a:xfrm>
          <a:prstGeom prst="rect">
            <a:avLst/>
          </a:prstGeom>
          <a:ln w="25400">
            <a:solidFill>
              <a:schemeClr val="accent5">
                <a:hueOff val="-522602"/>
                <a:satOff val="-6700"/>
                <a:lumOff val="-2232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4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Análista 3</a:t>
            </a:r>
          </a:p>
        </p:txBody>
      </p:sp>
      <p:cxnSp>
        <p:nvCxnSpPr>
          <p:cNvPr id="445" name="Línea de conexión"/>
          <p:cNvCxnSpPr>
            <a:stCxn id="439" idx="0"/>
            <a:endCxn id="444" idx="0"/>
          </p:cNvCxnSpPr>
          <p:nvPr/>
        </p:nvCxnSpPr>
        <p:spPr>
          <a:xfrm rot="5400000">
            <a:off x="1943100" y="4318000"/>
            <a:ext cx="5537200" cy="3454400"/>
          </a:xfrm>
          <a:prstGeom prst="bentConnector2">
            <a:avLst/>
          </a:prstGeom>
          <a:ln w="25400">
            <a:solidFill>
              <a:srgbClr val="000000"/>
            </a:solidFill>
            <a:miter lim="400000"/>
          </a:ln>
        </p:spPr>
      </p:cxnSp>
      <p:sp>
        <p:nvSpPr>
          <p:cNvPr id="446" name="Algunas células tendrán 1 ó 2 analistas"/>
          <p:cNvSpPr txBox="1"/>
          <p:nvPr/>
        </p:nvSpPr>
        <p:spPr>
          <a:xfrm>
            <a:off x="8285486" y="9264713"/>
            <a:ext cx="4383026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18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Algunas células tendrán 1 ó 2 analistas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Fechas importantes"/>
          <p:cNvSpPr txBox="1"/>
          <p:nvPr>
            <p:ph type="title"/>
          </p:nvPr>
        </p:nvSpPr>
        <p:spPr>
          <a:xfrm>
            <a:off x="840859" y="-173438"/>
            <a:ext cx="11099801" cy="1170300"/>
          </a:xfrm>
          <a:prstGeom prst="rect">
            <a:avLst/>
          </a:prstGeom>
        </p:spPr>
        <p:txBody>
          <a:bodyPr/>
          <a:lstStyle/>
          <a:p>
            <a:pPr/>
            <a:r>
              <a:t>Fechas importantes</a:t>
            </a:r>
          </a:p>
        </p:txBody>
      </p:sp>
      <p:sp>
        <p:nvSpPr>
          <p:cNvPr id="449" name="20 mayo. Arquitectura definida…"/>
          <p:cNvSpPr txBox="1"/>
          <p:nvPr>
            <p:ph type="body" idx="1"/>
          </p:nvPr>
        </p:nvSpPr>
        <p:spPr>
          <a:xfrm>
            <a:off x="192863" y="5101597"/>
            <a:ext cx="11859437" cy="4536780"/>
          </a:xfrm>
          <a:prstGeom prst="rect">
            <a:avLst/>
          </a:prstGeom>
        </p:spPr>
        <p:txBody>
          <a:bodyPr/>
          <a:lstStyle/>
          <a:p>
            <a:pPr marL="346709" indent="-346709" defTabSz="455675">
              <a:spcBef>
                <a:spcPts val="1000"/>
              </a:spcBef>
              <a:defRPr sz="2807"/>
            </a:pPr>
            <a:r>
              <a:t>20 mayo. Arquitectura definida 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25 mayo. Capacitación desarrollo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9 junio proceso fortalecido con maqueta  medio superior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30 junio proceso fortalecido con maqueta  de superior 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30 junio Desarrollo inicia programación casos de uso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14 julio proceso fortalecido de posgrado con maqueta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30 de Noviembre culminación del periodo del DG</a:t>
            </a:r>
          </a:p>
          <a:p>
            <a:pPr marL="346709" indent="-346709" defTabSz="455675">
              <a:spcBef>
                <a:spcPts val="1000"/>
              </a:spcBef>
              <a:defRPr sz="2807"/>
            </a:pPr>
            <a:r>
              <a:t>28 Febrero 2018 Fin del proyecto</a:t>
            </a:r>
          </a:p>
        </p:txBody>
      </p:sp>
      <p:pic>
        <p:nvPicPr>
          <p:cNvPr id="450" name="Screen Shot 2017-05-05 at 15.29.56.png" descr="Screen Shot 2017-05-05 at 15.29.5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115624"/>
            <a:ext cx="13004801" cy="35767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roces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Procesos</a:t>
            </a:r>
          </a:p>
        </p:txBody>
      </p:sp>
      <p:sp>
        <p:nvSpPr>
          <p:cNvPr id="453" name="Reunion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Reuniones</a:t>
            </a:r>
          </a:p>
          <a:p>
            <a:pPr/>
            <a:r>
              <a:t>Entregables</a:t>
            </a:r>
          </a:p>
          <a:p>
            <a:pPr/>
            <a:r>
              <a:t>Alcance</a:t>
            </a:r>
          </a:p>
          <a:p>
            <a:pPr marL="0" indent="0" algn="r">
              <a:buSzTx/>
              <a:buNone/>
            </a:pPr>
            <a:r>
              <a:t>Viernes a las 13:30 hrs.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Reunion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Reuniones</a:t>
            </a:r>
          </a:p>
        </p:txBody>
      </p:sp>
      <p:sp>
        <p:nvSpPr>
          <p:cNvPr id="456" name="Editar: doble cli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Format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Formatos</a:t>
            </a:r>
          </a:p>
        </p:txBody>
      </p:sp>
      <p:sp>
        <p:nvSpPr>
          <p:cNvPr id="459" name="Editar: doble cli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Entregab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Entregables</a:t>
            </a:r>
          </a:p>
        </p:txBody>
      </p:sp>
      <p:sp>
        <p:nvSpPr>
          <p:cNvPr id="462" name="Editar: doble cli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6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4874" y="3099115"/>
            <a:ext cx="11211771" cy="5295270"/>
          </a:xfrm>
          <a:prstGeom prst="rect">
            <a:avLst/>
          </a:prstGeom>
          <a:ln w="25400">
            <a:solidFill>
              <a:srgbClr val="F3F7F5"/>
            </a:solidFill>
            <a:miter lim="400000"/>
          </a:ln>
          <a:effectLst>
            <a:outerShdw sx="100000" sy="100000" kx="0" ky="0" algn="b" rotWithShape="0" blurRad="50800" dist="25400" dir="360000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lcan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Alcance</a:t>
            </a:r>
          </a:p>
        </p:txBody>
      </p:sp>
      <p:sp>
        <p:nvSpPr>
          <p:cNvPr id="466" name="Editar: doble cli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uniones Semanales (50 min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</a:lstStyle>
          <a:p>
            <a:pPr/>
            <a:r>
              <a:t>Reuniones Semanales (50 min)</a:t>
            </a:r>
          </a:p>
        </p:txBody>
      </p:sp>
      <p:sp>
        <p:nvSpPr>
          <p:cNvPr id="469" name="Reporte de la reunió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Reporte de la reunión</a:t>
            </a:r>
          </a:p>
          <a:p>
            <a:pPr lvl="3" marL="1562100" indent="-228600">
              <a:buSzPct val="100000"/>
              <a:buAutoNum type="arabicPeriod" startAt="1"/>
            </a:pPr>
            <a:r>
              <a:t> Avances</a:t>
            </a:r>
          </a:p>
          <a:p>
            <a:pPr lvl="3" marL="1562100" indent="-228600">
              <a:buSzPct val="100000"/>
              <a:buAutoNum type="arabicPeriod" startAt="1"/>
            </a:pPr>
            <a:r>
              <a:t> Planeación </a:t>
            </a:r>
          </a:p>
          <a:p>
            <a:pPr lvl="3" marL="1562100" indent="-228600">
              <a:buSzPct val="100000"/>
              <a:buAutoNum type="arabicPeriod" startAt="1"/>
            </a:pPr>
            <a:r>
              <a:t> Problemas </a:t>
            </a:r>
          </a:p>
          <a:p>
            <a:pPr lvl="3" marL="1562100" indent="-228600">
              <a:buSzPct val="100000"/>
              <a:buAutoNum type="arabicPeriod" startAt="1"/>
            </a:pPr>
            <a:r>
              <a:t> Necesidades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Comunicació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Comunicación</a:t>
            </a:r>
          </a:p>
        </p:txBody>
      </p:sp>
      <p:graphicFrame>
        <p:nvGraphicFramePr>
          <p:cNvPr id="472" name="Table 1"/>
          <p:cNvGraphicFramePr/>
          <p:nvPr/>
        </p:nvGraphicFramePr>
        <p:xfrm>
          <a:off x="768439" y="2365675"/>
          <a:ext cx="11451184" cy="6774850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2460111"/>
                <a:gridCol w="4866272"/>
                <a:gridCol w="4124798"/>
              </a:tblGrid>
              <a:tr h="523807">
                <a:tc>
                  <a:txBody>
                    <a:bodyPr/>
                    <a:lstStyle/>
                    <a:p>
                      <a:pPr defTabSz="914400">
                        <a:defRPr sz="2600">
                          <a:sym typeface="Helvetica"/>
                        </a:defRPr>
                      </a:pP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FFFFFF"/>
                          </a:solidFill>
                          <a:sym typeface="Helvetica"/>
                        </a:rPr>
                        <a:t>Formal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FFFFFF"/>
                          </a:solidFill>
                          <a:sym typeface="Helvetica"/>
                        </a:rPr>
                        <a:t>Informal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3431997"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FFFFFF"/>
                          </a:solidFill>
                          <a:sym typeface="Helvetica"/>
                        </a:rPr>
                        <a:t>Canal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Correo electrónico.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Memorandum.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Comunicado.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Reunión.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Boletines.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Cartel.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Sistema de información (SVN)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Minutas.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Whatsapp.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SMS.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Llamada telefónica.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Sobremesa.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Pasillos.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Vía pública.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2819043">
                <a:tc>
                  <a:txBody>
                    <a:bodyPr/>
                    <a:lstStyle/>
                    <a:p>
                      <a:pPr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b="1" sz="2600">
                          <a:solidFill>
                            <a:srgbClr val="FFFFFF"/>
                          </a:solidFill>
                          <a:sym typeface="Helvetica"/>
                        </a:rPr>
                        <a:t>Comunicación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Correcciones.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Errores.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Instrucciones.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Requerimientos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Cambios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Resultados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Avances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Comentarios.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Críticas.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Observaciones.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Recomendaciones.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Rumor.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Agradecimientos.</a:t>
                      </a:r>
                    </a:p>
                    <a:p>
                      <a:pPr marL="321027" indent="-321027" algn="l" defTabSz="914400">
                        <a:buSzPct val="75000"/>
                        <a:buChar char="•"/>
                        <a:defRPr sz="2600"/>
                      </a:pPr>
                      <a:r>
                        <a:t>etc.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Repositorio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Repositorios</a:t>
            </a:r>
          </a:p>
        </p:txBody>
      </p:sp>
      <p:sp>
        <p:nvSpPr>
          <p:cNvPr id="475" name="Editar: doble clic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¡Gracias!"/>
          <p:cNvSpPr txBox="1"/>
          <p:nvPr>
            <p:ph type="title"/>
          </p:nvPr>
        </p:nvSpPr>
        <p:spPr>
          <a:xfrm>
            <a:off x="3175000" y="7099300"/>
            <a:ext cx="6654800" cy="1308100"/>
          </a:xfrm>
          <a:prstGeom prst="rect">
            <a:avLst/>
          </a:prstGeom>
        </p:spPr>
        <p:txBody>
          <a:bodyPr/>
          <a:lstStyle/>
          <a:p>
            <a:pPr/>
            <a:r>
              <a:t>¡Gracias!</a:t>
            </a:r>
          </a:p>
        </p:txBody>
      </p:sp>
      <p:sp>
        <p:nvSpPr>
          <p:cNvPr id="478" name="Escuela Superior de Cómputo…"/>
          <p:cNvSpPr txBox="1"/>
          <p:nvPr>
            <p:ph type="body" sz="quarter" idx="4294967295"/>
          </p:nvPr>
        </p:nvSpPr>
        <p:spPr>
          <a:xfrm>
            <a:off x="1816100" y="1143000"/>
            <a:ext cx="10452100" cy="1752600"/>
          </a:xfrm>
          <a:prstGeom prst="rect">
            <a:avLst/>
          </a:prstGeom>
        </p:spPr>
        <p:txBody>
          <a:bodyPr lIns="38100" tIns="38100" rIns="38100" bIns="38100" anchor="t">
            <a:noAutofit/>
          </a:bodyPr>
          <a:lstStyle/>
          <a:p>
            <a:pPr marL="0" indent="0" algn="r">
              <a:spcBef>
                <a:spcPts val="1000"/>
              </a:spcBef>
              <a:buClr>
                <a:srgbClr val="9A9A9A"/>
              </a:buClr>
              <a:buSzTx/>
              <a:buNone/>
              <a:defRPr>
                <a:solidFill>
                  <a:srgbClr val="929292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rPr>
                <a:solidFill>
                  <a:srgbClr val="606060"/>
                </a:solidFill>
              </a:rPr>
              <a:t>Escuela Superior de Cómputo</a:t>
            </a:r>
          </a:p>
          <a:p>
            <a:pPr marL="0" indent="0" algn="r">
              <a:spcBef>
                <a:spcPts val="1000"/>
              </a:spcBef>
              <a:buClr>
                <a:srgbClr val="9A9A9A"/>
              </a:buClr>
              <a:buSzTx/>
              <a:buNone/>
              <a:defRPr sz="2400">
                <a:solidFill>
                  <a:srgbClr val="929292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Instituto Politécnico Nacional </a:t>
            </a:r>
          </a:p>
        </p:txBody>
      </p:sp>
      <p:sp>
        <p:nvSpPr>
          <p:cNvPr id="479" name="Coordinación de Desarrollo Tecnológico"/>
          <p:cNvSpPr txBox="1"/>
          <p:nvPr/>
        </p:nvSpPr>
        <p:spPr>
          <a:xfrm>
            <a:off x="1816100" y="381000"/>
            <a:ext cx="10452100" cy="1003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8100" tIns="38100" rIns="38100" bIns="38100" anchor="ctr"/>
          <a:lstStyle>
            <a:lvl1pPr algn="r">
              <a:buClr>
                <a:srgbClr val="000000"/>
              </a:buClr>
              <a:defRPr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Coordinación de Desarrollo Tecnológico</a:t>
            </a:r>
          </a:p>
        </p:txBody>
      </p:sp>
      <p:sp>
        <p:nvSpPr>
          <p:cNvPr id="480" name="José Jaime López Rabadán…"/>
          <p:cNvSpPr txBox="1"/>
          <p:nvPr/>
        </p:nvSpPr>
        <p:spPr>
          <a:xfrm>
            <a:off x="1052946" y="3454400"/>
            <a:ext cx="4305301" cy="340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1800"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>
              <a:defRPr sz="2400">
                <a:latin typeface="Gill Sans"/>
                <a:ea typeface="Gill Sans"/>
                <a:cs typeface="Gill Sans"/>
                <a:sym typeface="Gill Sans"/>
              </a:defRPr>
            </a:pPr>
            <a:r>
              <a:t>José Jaime López Rabadán</a:t>
            </a:r>
          </a:p>
          <a:p>
            <a:pPr algn="l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jlopezra@ipn.mx</a:t>
            </a:r>
          </a:p>
          <a:p>
            <a:pPr algn="l">
              <a:defRPr sz="1800">
                <a:latin typeface="Monaco"/>
                <a:ea typeface="Monaco"/>
                <a:cs typeface="Monaco"/>
                <a:sym typeface="Monaco"/>
              </a:defRPr>
            </a:pPr>
            <a:r>
              <a:t>cdt.escom@gmail.com</a:t>
            </a:r>
          </a:p>
        </p:txBody>
      </p:sp>
      <p:sp>
        <p:nvSpPr>
          <p:cNvPr id="481" name="Tel. 57296000 Exts. 52004 y 52045."/>
          <p:cNvSpPr txBox="1"/>
          <p:nvPr/>
        </p:nvSpPr>
        <p:spPr>
          <a:xfrm>
            <a:off x="8375147" y="2292350"/>
            <a:ext cx="3875932" cy="368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8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/>
            <a:r>
              <a:t>Tel. 57296000 Exts. 52004 y 52045.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1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